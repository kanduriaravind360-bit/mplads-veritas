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promise: every MPLADS work gets a risk indicator with its evidence, for a human reviewer. Say 'for review' out loud; we never call anything fraud.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scale with the four numbers. The point is triage: the system decides where to look first, people decide what it means.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Emphasise that fusion is transparent: six channels, fixed weights from config, percentile bands so the queue size stays workable.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money at risk and its share of sanctioned value. The caveat strip on every page says what the numbers are and are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Bhatpara CCTV example: two works flagged as duplicates and over-cost. The drawer shows why, and the reviewer can clear it: different police stations and wards, and the cost model grouped CCTV with computers.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Madurai: twelve road works from one agency sanctioned the same day, each just below a round amount. Then say plainly that split detection is the weakest detector.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check is the holdout: whole constituencies removed before anything was fitted.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the ministry map, right the same page for the Uttar Pradesh officer. Mention the MP framing explicitly.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with the wording here: the precision is on planted and seeded labels. Real verdicts replace them as reviewers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we earn trust. Read the split-work row aloud and the proxy caveat.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citizen view with a live click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what is genuinely open. Judges respect a team that knows its weak spots.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63040"/>
            <a:ext cx="109728" cy="21031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25880"/>
            <a:ext cx="10058400" cy="365760"/>
          </a:xfrm>
          <a:prstGeom prst="rect">
            <a:avLst/>
          </a:prstGeom>
          <a:noFill/>
        </p:spPr>
        <p:txBody>
          <a:bodyPr wrap="square" anchor="t" lIns="45720" rIns="45720" tIns="18288" bIns="18288">
            <a:spAutoFit/>
          </a:bodyPr>
          <a:lstStyle/>
          <a:p>
            <a:pPr algn="l"/>
            <a:r>
              <a:rPr sz="1200" b="1">
                <a:solidFill>
                  <a:srgbClr val="F0934B"/>
                </a:solidFill>
                <a:latin typeface="Segoe UI"/>
              </a:rPr>
              <a:t>SIH 2026  ·  PROBLEM STATEMENT 26102  ·  MINISTRY OF STATISTICS AND PROGRAMME IMPLEMENTATION</a:t>
            </a:r>
          </a:p>
        </p:txBody>
      </p:sp>
      <p:sp>
        <p:nvSpPr>
          <p:cNvPr id="5" name="TextBox 4"/>
          <p:cNvSpPr txBox="1"/>
          <p:nvPr/>
        </p:nvSpPr>
        <p:spPr>
          <a:xfrm>
            <a:off x="1097280" y="1783080"/>
            <a:ext cx="10058400" cy="1097280"/>
          </a:xfrm>
          <a:prstGeom prst="rect">
            <a:avLst/>
          </a:prstGeom>
          <a:noFill/>
        </p:spPr>
        <p:txBody>
          <a:bodyPr wrap="square" anchor="t" lIns="45720" rIns="45720" tIns="18288" bIns="18288">
            <a:spAutoFit/>
          </a:bodyPr>
          <a:lstStyle/>
          <a:p>
            <a:pPr algn="l"/>
            <a:r>
              <a:rPr sz="6000" b="1">
                <a:solidFill>
                  <a:srgbClr val="E6EDF7"/>
                </a:solidFill>
                <a:latin typeface="Segoe UI Semibold"/>
              </a:rPr>
              <a:t>MPLADS Sentinel</a:t>
            </a:r>
          </a:p>
        </p:txBody>
      </p:sp>
      <p:sp>
        <p:nvSpPr>
          <p:cNvPr id="6" name="TextBox 5"/>
          <p:cNvSpPr txBox="1"/>
          <p:nvPr/>
        </p:nvSpPr>
        <p:spPr>
          <a:xfrm>
            <a:off x="1097280" y="2788920"/>
            <a:ext cx="10058400" cy="914400"/>
          </a:xfrm>
          <a:prstGeom prst="rect">
            <a:avLst/>
          </a:prstGeom>
          <a:noFill/>
        </p:spPr>
        <p:txBody>
          <a:bodyPr wrap="square" anchor="t" lIns="45720" rIns="45720" tIns="18288" bIns="18288">
            <a:spAutoFit/>
          </a:bodyPr>
          <a:lstStyle/>
          <a:p>
            <a:pPr algn="l"/>
            <a:r>
              <a:rPr sz="2200" b="0">
                <a:solidFill>
                  <a:srgbClr val="E6EDF7"/>
                </a:solidFill>
                <a:latin typeface="Segoe UI"/>
              </a:rPr>
              <a:t>Risk indicators for review of MPLADS works:</a:t>
            </a:r>
          </a:p>
          <a:p>
            <a:pPr algn="l"/>
            <a:r>
              <a:rPr sz="2200" b="0">
                <a:solidFill>
                  <a:srgbClr val="E6EDF7"/>
                </a:solidFill>
                <a:latin typeface="Segoe UI"/>
              </a:rPr>
              <a:t>anomalies, fraud risk, delays and duplicate works, with the evidence attached.</a:t>
            </a:r>
          </a:p>
        </p:txBody>
      </p:sp>
      <p:sp>
        <p:nvSpPr>
          <p:cNvPr id="7" name="TextBox 6"/>
          <p:cNvSpPr txBox="1"/>
          <p:nvPr/>
        </p:nvSpPr>
        <p:spPr>
          <a:xfrm>
            <a:off x="1097280" y="4297680"/>
            <a:ext cx="10058400" cy="457200"/>
          </a:xfrm>
          <a:prstGeom prst="rect">
            <a:avLst/>
          </a:prstGeom>
          <a:noFill/>
        </p:spPr>
        <p:txBody>
          <a:bodyPr wrap="square" anchor="t" lIns="45720" rIns="45720" tIns="18288" bIns="18288">
            <a:spAutoFit/>
          </a:bodyPr>
          <a:lstStyle/>
          <a:p>
            <a:pPr algn="l"/>
            <a:r>
              <a:rPr sz="1600" b="0">
                <a:solidFill>
                  <a:srgbClr val="94A6BF"/>
                </a:solidFill>
                <a:latin typeface="Segoe UI"/>
              </a:rPr>
              <a:t>Built on 77,312 real works from the public eSAKSHI extract  ·  700 MPs  ·  765 districts</a:t>
            </a:r>
          </a:p>
        </p:txBody>
      </p:sp>
      <p:sp>
        <p:nvSpPr>
          <p:cNvPr id="8" name="TextBox 7"/>
          <p:cNvSpPr txBox="1"/>
          <p:nvPr/>
        </p:nvSpPr>
        <p:spPr>
          <a:xfrm>
            <a:off x="1097280" y="5760720"/>
            <a:ext cx="5486400" cy="365760"/>
          </a:xfrm>
          <a:prstGeom prst="rect">
            <a:avLst/>
          </a:prstGeom>
          <a:noFill/>
        </p:spPr>
        <p:txBody>
          <a:bodyPr wrap="square" anchor="t" lIns="45720" rIns="45720" tIns="18288" bIns="18288">
            <a:spAutoFit/>
          </a:bodyPr>
          <a:lstStyle/>
          <a:p>
            <a:pPr algn="l"/>
            <a:r>
              <a:rPr sz="1400" b="0">
                <a:solidFill>
                  <a:srgbClr val="94A6BF"/>
                </a:solidFill>
                <a:latin typeface="Segoe UI"/>
              </a:rPr>
              <a:t>[Team name and members]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THE PROBLEM</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Too many works, too few reviewers, and no single view</a:t>
            </a:r>
          </a:p>
        </p:txBody>
      </p:sp>
      <p:sp>
        <p:nvSpPr>
          <p:cNvPr id="5" name="Rounded Rectangle 4"/>
          <p:cNvSpPr/>
          <p:nvPr/>
        </p:nvSpPr>
        <p:spPr>
          <a:xfrm>
            <a:off x="777240" y="1600200"/>
            <a:ext cx="260604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28216"/>
            <a:ext cx="2240280" cy="274320"/>
          </a:xfrm>
          <a:prstGeom prst="rect">
            <a:avLst/>
          </a:prstGeom>
          <a:noFill/>
        </p:spPr>
        <p:txBody>
          <a:bodyPr wrap="square" anchor="t" lIns="45720" rIns="45720" tIns="18288" bIns="18288">
            <a:spAutoFit/>
          </a:bodyPr>
          <a:lstStyle/>
          <a:p>
            <a:pPr algn="l"/>
            <a:r>
              <a:rPr sz="1000" b="1">
                <a:solidFill>
                  <a:srgbClr val="94A6BF"/>
                </a:solidFill>
                <a:latin typeface="Segoe UI"/>
              </a:rPr>
              <a:t>WORKS IN THE EXTRACT</a:t>
            </a:r>
          </a:p>
        </p:txBody>
      </p:sp>
      <p:sp>
        <p:nvSpPr>
          <p:cNvPr id="7" name="TextBox 6"/>
          <p:cNvSpPr txBox="1"/>
          <p:nvPr/>
        </p:nvSpPr>
        <p:spPr>
          <a:xfrm>
            <a:off x="960120" y="1984248"/>
            <a:ext cx="224028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77,312</a:t>
            </a:r>
          </a:p>
        </p:txBody>
      </p:sp>
      <p:sp>
        <p:nvSpPr>
          <p:cNvPr id="8" name="TextBox 7"/>
          <p:cNvSpPr txBox="1"/>
          <p:nvPr/>
        </p:nvSpPr>
        <p:spPr>
          <a:xfrm>
            <a:off x="960120" y="2468880"/>
            <a:ext cx="2240280" cy="320040"/>
          </a:xfrm>
          <a:prstGeom prst="rect">
            <a:avLst/>
          </a:prstGeom>
          <a:noFill/>
        </p:spPr>
        <p:txBody>
          <a:bodyPr wrap="square" anchor="t" lIns="45720" rIns="45720" tIns="18288" bIns="18288">
            <a:spAutoFit/>
          </a:bodyPr>
          <a:lstStyle/>
          <a:p>
            <a:pPr algn="l"/>
            <a:r>
              <a:rPr sz="1100" b="0">
                <a:solidFill>
                  <a:srgbClr val="94A6BF"/>
                </a:solidFill>
                <a:latin typeface="Segoe UI"/>
              </a:rPr>
              <a:t>Lok Sabha and Rajya Sabha</a:t>
            </a:r>
          </a:p>
        </p:txBody>
      </p:sp>
      <p:sp>
        <p:nvSpPr>
          <p:cNvPr id="9" name="Rounded Rectangle 8"/>
          <p:cNvSpPr/>
          <p:nvPr/>
        </p:nvSpPr>
        <p:spPr>
          <a:xfrm>
            <a:off x="3566160" y="1600200"/>
            <a:ext cx="260604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1728216"/>
            <a:ext cx="2240280" cy="274320"/>
          </a:xfrm>
          <a:prstGeom prst="rect">
            <a:avLst/>
          </a:prstGeom>
          <a:noFill/>
        </p:spPr>
        <p:txBody>
          <a:bodyPr wrap="square" anchor="t" lIns="45720" rIns="45720" tIns="18288" bIns="18288">
            <a:spAutoFit/>
          </a:bodyPr>
          <a:lstStyle/>
          <a:p>
            <a:pPr algn="l"/>
            <a:r>
              <a:rPr sz="1000" b="1">
                <a:solidFill>
                  <a:srgbClr val="94A6BF"/>
                </a:solidFill>
                <a:latin typeface="Segoe UI"/>
              </a:rPr>
              <a:t>SANCTIONED</a:t>
            </a:r>
          </a:p>
        </p:txBody>
      </p:sp>
      <p:sp>
        <p:nvSpPr>
          <p:cNvPr id="11" name="TextBox 10"/>
          <p:cNvSpPr txBox="1"/>
          <p:nvPr/>
        </p:nvSpPr>
        <p:spPr>
          <a:xfrm>
            <a:off x="3749039" y="1984248"/>
            <a:ext cx="224028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₹4,742 crore</a:t>
            </a:r>
          </a:p>
        </p:txBody>
      </p:sp>
      <p:sp>
        <p:nvSpPr>
          <p:cNvPr id="12" name="TextBox 11"/>
          <p:cNvSpPr txBox="1"/>
          <p:nvPr/>
        </p:nvSpPr>
        <p:spPr>
          <a:xfrm>
            <a:off x="3749039" y="2468880"/>
            <a:ext cx="2240280" cy="320040"/>
          </a:xfrm>
          <a:prstGeom prst="rect">
            <a:avLst/>
          </a:prstGeom>
          <a:noFill/>
        </p:spPr>
        <p:txBody>
          <a:bodyPr wrap="square" anchor="t" lIns="45720" rIns="45720" tIns="18288" bIns="18288">
            <a:spAutoFit/>
          </a:bodyPr>
          <a:lstStyle/>
          <a:p>
            <a:pPr algn="l"/>
            <a:r>
              <a:rPr sz="1100" b="0">
                <a:solidFill>
                  <a:srgbClr val="94A6BF"/>
                </a:solidFill>
                <a:latin typeface="Segoe UI"/>
              </a:rPr>
              <a:t>75% disbursed so far</a:t>
            </a:r>
          </a:p>
        </p:txBody>
      </p:sp>
      <p:sp>
        <p:nvSpPr>
          <p:cNvPr id="13" name="Rounded Rectangle 12"/>
          <p:cNvSpPr/>
          <p:nvPr/>
        </p:nvSpPr>
        <p:spPr>
          <a:xfrm>
            <a:off x="6355080" y="1600200"/>
            <a:ext cx="260604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728216"/>
            <a:ext cx="2240280" cy="274320"/>
          </a:xfrm>
          <a:prstGeom prst="rect">
            <a:avLst/>
          </a:prstGeom>
          <a:noFill/>
        </p:spPr>
        <p:txBody>
          <a:bodyPr wrap="square" anchor="t" lIns="45720" rIns="45720" tIns="18288" bIns="18288">
            <a:spAutoFit/>
          </a:bodyPr>
          <a:lstStyle/>
          <a:p>
            <a:pPr algn="l"/>
            <a:r>
              <a:rPr sz="1000" b="1">
                <a:solidFill>
                  <a:srgbClr val="94A6BF"/>
                </a:solidFill>
                <a:latin typeface="Segoe UI"/>
              </a:rPr>
              <a:t>COMPLETED</a:t>
            </a:r>
          </a:p>
        </p:txBody>
      </p:sp>
      <p:sp>
        <p:nvSpPr>
          <p:cNvPr id="15" name="TextBox 14"/>
          <p:cNvSpPr txBox="1"/>
          <p:nvPr/>
        </p:nvSpPr>
        <p:spPr>
          <a:xfrm>
            <a:off x="6537960" y="1984248"/>
            <a:ext cx="224028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54%</a:t>
            </a:r>
          </a:p>
        </p:txBody>
      </p:sp>
      <p:sp>
        <p:nvSpPr>
          <p:cNvPr id="16" name="TextBox 15"/>
          <p:cNvSpPr txBox="1"/>
          <p:nvPr/>
        </p:nvSpPr>
        <p:spPr>
          <a:xfrm>
            <a:off x="6537960" y="2468880"/>
            <a:ext cx="2240280" cy="320040"/>
          </a:xfrm>
          <a:prstGeom prst="rect">
            <a:avLst/>
          </a:prstGeom>
          <a:noFill/>
        </p:spPr>
        <p:txBody>
          <a:bodyPr wrap="square" anchor="t" lIns="45720" rIns="45720" tIns="18288" bIns="18288">
            <a:spAutoFit/>
          </a:bodyPr>
          <a:lstStyle/>
          <a:p>
            <a:pPr algn="l"/>
            <a:r>
              <a:rPr sz="1100" b="0">
                <a:solidFill>
                  <a:srgbClr val="94A6BF"/>
                </a:solidFill>
                <a:latin typeface="Segoe UI"/>
              </a:rPr>
              <a:t>41,650 of 77,312</a:t>
            </a:r>
          </a:p>
        </p:txBody>
      </p:sp>
      <p:sp>
        <p:nvSpPr>
          <p:cNvPr id="17" name="Rounded Rectangle 16"/>
          <p:cNvSpPr/>
          <p:nvPr/>
        </p:nvSpPr>
        <p:spPr>
          <a:xfrm>
            <a:off x="9144000" y="1600200"/>
            <a:ext cx="228600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1728216"/>
            <a:ext cx="1920240" cy="274320"/>
          </a:xfrm>
          <a:prstGeom prst="rect">
            <a:avLst/>
          </a:prstGeom>
          <a:noFill/>
        </p:spPr>
        <p:txBody>
          <a:bodyPr wrap="square" anchor="t" lIns="45720" rIns="45720" tIns="18288" bIns="18288">
            <a:spAutoFit/>
          </a:bodyPr>
          <a:lstStyle/>
          <a:p>
            <a:pPr algn="l"/>
            <a:r>
              <a:rPr sz="1000" b="1">
                <a:solidFill>
                  <a:srgbClr val="94A6BF"/>
                </a:solidFill>
                <a:latin typeface="Segoe UI"/>
              </a:rPr>
              <a:t>DISTRICTS</a:t>
            </a:r>
          </a:p>
        </p:txBody>
      </p:sp>
      <p:sp>
        <p:nvSpPr>
          <p:cNvPr id="19" name="TextBox 18"/>
          <p:cNvSpPr txBox="1"/>
          <p:nvPr/>
        </p:nvSpPr>
        <p:spPr>
          <a:xfrm>
            <a:off x="9326880" y="1984248"/>
            <a:ext cx="192024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765</a:t>
            </a:r>
          </a:p>
        </p:txBody>
      </p:sp>
      <p:sp>
        <p:nvSpPr>
          <p:cNvPr id="20" name="TextBox 19"/>
          <p:cNvSpPr txBox="1"/>
          <p:nvPr/>
        </p:nvSpPr>
        <p:spPr>
          <a:xfrm>
            <a:off x="9326880" y="2468880"/>
            <a:ext cx="1920240" cy="320040"/>
          </a:xfrm>
          <a:prstGeom prst="rect">
            <a:avLst/>
          </a:prstGeom>
          <a:noFill/>
        </p:spPr>
        <p:txBody>
          <a:bodyPr wrap="square" anchor="t" lIns="45720" rIns="45720" tIns="18288" bIns="18288">
            <a:spAutoFit/>
          </a:bodyPr>
          <a:lstStyle/>
          <a:p>
            <a:pPr algn="l"/>
            <a:r>
              <a:rPr sz="1100" b="0">
                <a:solidFill>
                  <a:srgbClr val="94A6BF"/>
                </a:solidFill>
                <a:latin typeface="Segoe UI"/>
              </a:rPr>
              <a:t>700 MPs recommending</a:t>
            </a:r>
          </a:p>
        </p:txBody>
      </p:sp>
      <p:sp>
        <p:nvSpPr>
          <p:cNvPr id="21" name="TextBox 20"/>
          <p:cNvSpPr txBox="1"/>
          <p:nvPr/>
        </p:nvSpPr>
        <p:spPr>
          <a:xfrm>
            <a:off x="777240" y="3246120"/>
            <a:ext cx="10789920" cy="2926080"/>
          </a:xfrm>
          <a:prstGeom prst="rect">
            <a:avLst/>
          </a:prstGeom>
          <a:noFill/>
        </p:spPr>
        <p:txBody>
          <a:bodyPr wrap="square">
            <a:spAutoFit/>
          </a:bodyPr>
          <a:lstStyle/>
          <a:p>
            <a:pPr>
              <a:spcAft>
                <a:spcPts val="800"/>
              </a:spcAft>
            </a:pPr>
            <a:r>
              <a:rPr sz="1700">
                <a:solidFill>
                  <a:srgbClr val="F0934B"/>
                </a:solidFill>
                <a:latin typeface="Segoe UI"/>
              </a:rPr>
              <a:t>▸  </a:t>
            </a:r>
            <a:r>
              <a:rPr sz="1700">
                <a:solidFill>
                  <a:srgbClr val="E6EDF7"/>
                </a:solidFill>
                <a:latin typeface="Segoe UI"/>
              </a:rPr>
              <a:t>A district office cannot read tens of thousands of work records looking for the few that need a second look.</a:t>
            </a:r>
          </a:p>
          <a:p>
            <a:pPr>
              <a:spcAft>
                <a:spcPts val="800"/>
              </a:spcAft>
            </a:pPr>
            <a:r>
              <a:rPr sz="1700">
                <a:solidFill>
                  <a:srgbClr val="F0934B"/>
                </a:solidFill>
                <a:latin typeface="Segoe UI"/>
              </a:rPr>
              <a:t>▸  </a:t>
            </a:r>
            <a:r>
              <a:rPr sz="1700">
                <a:solidFill>
                  <a:srgbClr val="E6EDF7"/>
                </a:solidFill>
                <a:latin typeface="Segoe UI"/>
              </a:rPr>
              <a:t>The warning signs are scattered: a cost far above what the description predicts, the same asset recorded twice, one project split to stay under a limit, works stalled for years.</a:t>
            </a:r>
          </a:p>
          <a:p>
            <a:pPr>
              <a:spcAft>
                <a:spcPts val="800"/>
              </a:spcAft>
            </a:pPr>
            <a:r>
              <a:rPr sz="1700">
                <a:solidFill>
                  <a:srgbClr val="F0934B"/>
                </a:solidFill>
                <a:latin typeface="Segoe UI"/>
              </a:rPr>
              <a:t>▸  </a:t>
            </a:r>
            <a:r>
              <a:rPr sz="1700">
                <a:solidFill>
                  <a:srgbClr val="E6EDF7"/>
                </a:solidFill>
                <a:latin typeface="Segoe UI"/>
              </a:rPr>
              <a:t>Oversight has to respect scope: a district sees its district, an MP sees works recommended in their constituency, citizens see where money went.</a:t>
            </a:r>
          </a:p>
          <a:p>
            <a:pPr>
              <a:spcAft>
                <a:spcPts val="800"/>
              </a:spcAft>
            </a:pPr>
            <a:r>
              <a:rPr sz="1700">
                <a:solidFill>
                  <a:srgbClr val="F0934B"/>
                </a:solidFill>
                <a:latin typeface="Segoe UI"/>
              </a:rPr>
              <a:t>▸  </a:t>
            </a:r>
            <a:r>
              <a:rPr sz="1700">
                <a:solidFill>
                  <a:srgbClr val="E6EDF7"/>
                </a:solidFill>
                <a:latin typeface="Segoe UI"/>
              </a:rPr>
              <a:t>Any flag must come with evidence a reviewer can check, in English and Hindi, and every action must leave an audit trail.</a:t>
            </a:r>
          </a:p>
        </p:txBody>
      </p:sp>
      <p:sp>
        <p:nvSpPr>
          <p:cNvPr id="22" name="TextBox 21"/>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23" name="TextBox 22"/>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HOW IT WORKS</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From a spreadsheet extract to a scoped review queue</a:t>
            </a:r>
          </a:p>
        </p:txBody>
      </p:sp>
      <p:sp>
        <p:nvSpPr>
          <p:cNvPr id="5" name="Rounded Rectangle 4"/>
          <p:cNvSpPr/>
          <p:nvPr/>
        </p:nvSpPr>
        <p:spPr>
          <a:xfrm>
            <a:off x="777240" y="2011680"/>
            <a:ext cx="2011680" cy="1874519"/>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48840"/>
            <a:ext cx="1737360" cy="411480"/>
          </a:xfrm>
          <a:prstGeom prst="rect">
            <a:avLst/>
          </a:prstGeom>
          <a:noFill/>
        </p:spPr>
        <p:txBody>
          <a:bodyPr wrap="square" anchor="t" lIns="45720" rIns="45720" tIns="18288" bIns="18288">
            <a:spAutoFit/>
          </a:bodyPr>
          <a:lstStyle/>
          <a:p>
            <a:pPr algn="l"/>
            <a:r>
              <a:rPr sz="1700" b="1">
                <a:solidFill>
                  <a:srgbClr val="F0934B"/>
                </a:solidFill>
                <a:latin typeface="Segoe UI Semibold"/>
              </a:rPr>
              <a:t>eSAKSHI extract</a:t>
            </a:r>
          </a:p>
        </p:txBody>
      </p:sp>
      <p:sp>
        <p:nvSpPr>
          <p:cNvPr id="7" name="TextBox 6"/>
          <p:cNvSpPr txBox="1"/>
          <p:nvPr/>
        </p:nvSpPr>
        <p:spPr>
          <a:xfrm>
            <a:off x="914400" y="2651760"/>
            <a:ext cx="1783080" cy="1737360"/>
          </a:xfrm>
          <a:prstGeom prst="rect">
            <a:avLst/>
          </a:prstGeom>
          <a:noFill/>
        </p:spPr>
        <p:txBody>
          <a:bodyPr wrap="square" anchor="t" lIns="45720" rIns="45720" tIns="18288" bIns="18288">
            <a:spAutoFit/>
          </a:bodyPr>
          <a:lstStyle/>
          <a:p>
            <a:pPr algn="l"/>
            <a:r>
              <a:rPr sz="1300" b="0">
                <a:solidFill>
                  <a:srgbClr val="E6EDF7"/>
                </a:solidFill>
                <a:latin typeface="Segoe UI"/>
              </a:rPr>
              <a:t>77,312 works, 34 columns</a:t>
            </a:r>
          </a:p>
          <a:p>
            <a:pPr algn="l"/>
            <a:r>
              <a:rPr sz="1300" b="0">
                <a:solidFill>
                  <a:srgbClr val="E6EDF7"/>
                </a:solidFill>
                <a:latin typeface="Segoe UI"/>
              </a:rPr>
              <a:t>public data</a:t>
            </a:r>
          </a:p>
        </p:txBody>
      </p:sp>
      <p:cxnSp>
        <p:nvCxnSpPr>
          <p:cNvPr id="8" name="Connector 7"/>
          <p:cNvCxnSpPr/>
          <p:nvPr/>
        </p:nvCxnSpPr>
        <p:spPr>
          <a:xfrm>
            <a:off x="2807208" y="2926080"/>
            <a:ext cx="237744" cy="0"/>
          </a:xfrm>
          <a:prstGeom prst="line">
            <a:avLst/>
          </a:prstGeom>
          <a:ln w="25400">
            <a:solidFill>
              <a:srgbClr val="F0934B"/>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2011680"/>
            <a:ext cx="2011680" cy="1874519"/>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2148840"/>
            <a:ext cx="1737360" cy="411480"/>
          </a:xfrm>
          <a:prstGeom prst="rect">
            <a:avLst/>
          </a:prstGeom>
          <a:noFill/>
        </p:spPr>
        <p:txBody>
          <a:bodyPr wrap="square" anchor="t" lIns="45720" rIns="45720" tIns="18288" bIns="18288">
            <a:spAutoFit/>
          </a:bodyPr>
          <a:lstStyle/>
          <a:p>
            <a:pPr algn="l"/>
            <a:r>
              <a:rPr sz="1700" b="1">
                <a:solidFill>
                  <a:srgbClr val="F0934B"/>
                </a:solidFill>
                <a:latin typeface="Segoe UI Semibold"/>
              </a:rPr>
              <a:t>ML pipeline</a:t>
            </a:r>
          </a:p>
        </p:txBody>
      </p:sp>
      <p:sp>
        <p:nvSpPr>
          <p:cNvPr id="11" name="TextBox 10"/>
          <p:cNvSpPr txBox="1"/>
          <p:nvPr/>
        </p:nvSpPr>
        <p:spPr>
          <a:xfrm>
            <a:off x="3200400" y="2651760"/>
            <a:ext cx="1783080" cy="1737360"/>
          </a:xfrm>
          <a:prstGeom prst="rect">
            <a:avLst/>
          </a:prstGeom>
          <a:noFill/>
        </p:spPr>
        <p:txBody>
          <a:bodyPr wrap="square" anchor="t" lIns="45720" rIns="45720" tIns="18288" bIns="18288">
            <a:spAutoFit/>
          </a:bodyPr>
          <a:lstStyle/>
          <a:p>
            <a:pPr algn="l"/>
            <a:r>
              <a:rPr sz="1300" b="0">
                <a:solidFill>
                  <a:srgbClr val="E6EDF7"/>
                </a:solidFill>
                <a:latin typeface="Segoe UI"/>
              </a:rPr>
              <a:t>work type (56 types)</a:t>
            </a:r>
          </a:p>
          <a:p>
            <a:pPr algn="l"/>
            <a:r>
              <a:rPr sz="1300" b="0">
                <a:solidFill>
                  <a:srgbClr val="E6EDF7"/>
                </a:solidFill>
                <a:latin typeface="Segoe UI"/>
              </a:rPr>
              <a:t>expected cost, rules</a:t>
            </a:r>
          </a:p>
          <a:p>
            <a:pPr algn="l"/>
            <a:r>
              <a:rPr sz="1300" b="0">
                <a:solidFill>
                  <a:srgbClr val="E6EDF7"/>
                </a:solidFill>
                <a:latin typeface="Segoe UI"/>
              </a:rPr>
              <a:t>anomaly, duplicates</a:t>
            </a:r>
          </a:p>
          <a:p>
            <a:pPr algn="l"/>
            <a:r>
              <a:rPr sz="1300" b="0">
                <a:solidFill>
                  <a:srgbClr val="E6EDF7"/>
                </a:solidFill>
                <a:latin typeface="Segoe UI"/>
              </a:rPr>
              <a:t>splits, delay model</a:t>
            </a:r>
          </a:p>
        </p:txBody>
      </p:sp>
      <p:cxnSp>
        <p:nvCxnSpPr>
          <p:cNvPr id="12" name="Connector 11"/>
          <p:cNvCxnSpPr/>
          <p:nvPr/>
        </p:nvCxnSpPr>
        <p:spPr>
          <a:xfrm>
            <a:off x="5093208" y="2926080"/>
            <a:ext cx="237744" cy="0"/>
          </a:xfrm>
          <a:prstGeom prst="line">
            <a:avLst/>
          </a:prstGeom>
          <a:ln w="25400">
            <a:solidFill>
              <a:srgbClr val="F0934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49240" y="2011680"/>
            <a:ext cx="2011680" cy="1874519"/>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0" y="2148840"/>
            <a:ext cx="1737360" cy="411480"/>
          </a:xfrm>
          <a:prstGeom prst="rect">
            <a:avLst/>
          </a:prstGeom>
          <a:noFill/>
        </p:spPr>
        <p:txBody>
          <a:bodyPr wrap="square" anchor="t" lIns="45720" rIns="45720" tIns="18288" bIns="18288">
            <a:spAutoFit/>
          </a:bodyPr>
          <a:lstStyle/>
          <a:p>
            <a:pPr algn="l"/>
            <a:r>
              <a:rPr sz="1700" b="1">
                <a:solidFill>
                  <a:srgbClr val="F0934B"/>
                </a:solidFill>
                <a:latin typeface="Segoe UI Semibold"/>
              </a:rPr>
              <a:t>Fusion</a:t>
            </a:r>
          </a:p>
        </p:txBody>
      </p:sp>
      <p:sp>
        <p:nvSpPr>
          <p:cNvPr id="15" name="TextBox 14"/>
          <p:cNvSpPr txBox="1"/>
          <p:nvPr/>
        </p:nvSpPr>
        <p:spPr>
          <a:xfrm>
            <a:off x="5486400" y="2651760"/>
            <a:ext cx="1783080" cy="1737360"/>
          </a:xfrm>
          <a:prstGeom prst="rect">
            <a:avLst/>
          </a:prstGeom>
          <a:noFill/>
        </p:spPr>
        <p:txBody>
          <a:bodyPr wrap="square" anchor="t" lIns="45720" rIns="45720" tIns="18288" bIns="18288">
            <a:spAutoFit/>
          </a:bodyPr>
          <a:lstStyle/>
          <a:p>
            <a:pPr algn="l"/>
            <a:r>
              <a:rPr sz="1300" b="0">
                <a:solidFill>
                  <a:srgbClr val="E6EDF7"/>
                </a:solidFill>
                <a:latin typeface="Segoe UI"/>
              </a:rPr>
              <a:t>soft-OR of 6 channels</a:t>
            </a:r>
          </a:p>
          <a:p>
            <a:pPr algn="l"/>
            <a:r>
              <a:rPr sz="1300" b="0">
                <a:solidFill>
                  <a:srgbClr val="E6EDF7"/>
                </a:solidFill>
                <a:latin typeface="Segoe UI"/>
              </a:rPr>
              <a:t>percentile bands</a:t>
            </a:r>
          </a:p>
          <a:p>
            <a:pPr algn="l"/>
            <a:r>
              <a:rPr sz="1300" b="0">
                <a:solidFill>
                  <a:srgbClr val="E6EDF7"/>
                </a:solidFill>
                <a:latin typeface="Segoe UI"/>
              </a:rPr>
              <a:t>severe-rule floor</a:t>
            </a:r>
          </a:p>
        </p:txBody>
      </p:sp>
      <p:cxnSp>
        <p:nvCxnSpPr>
          <p:cNvPr id="16" name="Connector 15"/>
          <p:cNvCxnSpPr/>
          <p:nvPr/>
        </p:nvCxnSpPr>
        <p:spPr>
          <a:xfrm>
            <a:off x="7379208" y="2926080"/>
            <a:ext cx="237744" cy="0"/>
          </a:xfrm>
          <a:prstGeom prst="line">
            <a:avLst/>
          </a:prstGeom>
          <a:ln w="25400">
            <a:solidFill>
              <a:srgbClr val="F0934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35240" y="2011680"/>
            <a:ext cx="2011680" cy="1874519"/>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48840"/>
            <a:ext cx="1737360" cy="411480"/>
          </a:xfrm>
          <a:prstGeom prst="rect">
            <a:avLst/>
          </a:prstGeom>
          <a:noFill/>
        </p:spPr>
        <p:txBody>
          <a:bodyPr wrap="square" anchor="t" lIns="45720" rIns="45720" tIns="18288" bIns="18288">
            <a:spAutoFit/>
          </a:bodyPr>
          <a:lstStyle/>
          <a:p>
            <a:pPr algn="l"/>
            <a:r>
              <a:rPr sz="1700" b="1">
                <a:solidFill>
                  <a:srgbClr val="F0934B"/>
                </a:solidFill>
                <a:latin typeface="Segoe UI Semibold"/>
              </a:rPr>
              <a:t>FastAPI</a:t>
            </a:r>
          </a:p>
        </p:txBody>
      </p:sp>
      <p:sp>
        <p:nvSpPr>
          <p:cNvPr id="19" name="TextBox 18"/>
          <p:cNvSpPr txBox="1"/>
          <p:nvPr/>
        </p:nvSpPr>
        <p:spPr>
          <a:xfrm>
            <a:off x="7772400" y="2651760"/>
            <a:ext cx="1783080" cy="1737360"/>
          </a:xfrm>
          <a:prstGeom prst="rect">
            <a:avLst/>
          </a:prstGeom>
          <a:noFill/>
        </p:spPr>
        <p:txBody>
          <a:bodyPr wrap="square" anchor="t" lIns="45720" rIns="45720" tIns="18288" bIns="18288">
            <a:spAutoFit/>
          </a:bodyPr>
          <a:lstStyle/>
          <a:p>
            <a:pPr algn="l"/>
            <a:r>
              <a:rPr sz="1300" b="0">
                <a:solidFill>
                  <a:srgbClr val="E6EDF7"/>
                </a:solidFill>
                <a:latin typeface="Segoe UI"/>
              </a:rPr>
              <a:t>JWT, 4 roles</a:t>
            </a:r>
          </a:p>
          <a:p>
            <a:pPr algn="l"/>
            <a:r>
              <a:rPr sz="1300" b="0">
                <a:solidFill>
                  <a:srgbClr val="E6EDF7"/>
                </a:solidFill>
                <a:latin typeface="Segoe UI"/>
              </a:rPr>
              <a:t>row-level scoping</a:t>
            </a:r>
          </a:p>
          <a:p>
            <a:pPr algn="l"/>
            <a:r>
              <a:rPr sz="1300" b="0">
                <a:solidFill>
                  <a:srgbClr val="E6EDF7"/>
                </a:solidFill>
                <a:latin typeface="Segoe UI"/>
              </a:rPr>
              <a:t>hash-chained audit</a:t>
            </a:r>
          </a:p>
        </p:txBody>
      </p:sp>
      <p:cxnSp>
        <p:nvCxnSpPr>
          <p:cNvPr id="20" name="Connector 19"/>
          <p:cNvCxnSpPr/>
          <p:nvPr/>
        </p:nvCxnSpPr>
        <p:spPr>
          <a:xfrm>
            <a:off x="9665208" y="2926080"/>
            <a:ext cx="237744" cy="0"/>
          </a:xfrm>
          <a:prstGeom prst="line">
            <a:avLst/>
          </a:prstGeom>
          <a:ln w="25400">
            <a:solidFill>
              <a:srgbClr val="F0934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921240" y="2011680"/>
            <a:ext cx="2011680" cy="1874519"/>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0" y="2148840"/>
            <a:ext cx="1737360" cy="411480"/>
          </a:xfrm>
          <a:prstGeom prst="rect">
            <a:avLst/>
          </a:prstGeom>
          <a:noFill/>
        </p:spPr>
        <p:txBody>
          <a:bodyPr wrap="square" anchor="t" lIns="45720" rIns="45720" tIns="18288" bIns="18288">
            <a:spAutoFit/>
          </a:bodyPr>
          <a:lstStyle/>
          <a:p>
            <a:pPr algn="l"/>
            <a:r>
              <a:rPr sz="1700" b="1">
                <a:solidFill>
                  <a:srgbClr val="F0934B"/>
                </a:solidFill>
                <a:latin typeface="Segoe UI Semibold"/>
              </a:rPr>
              <a:t>Dashboard</a:t>
            </a:r>
          </a:p>
        </p:txBody>
      </p:sp>
      <p:sp>
        <p:nvSpPr>
          <p:cNvPr id="23" name="TextBox 22"/>
          <p:cNvSpPr txBox="1"/>
          <p:nvPr/>
        </p:nvSpPr>
        <p:spPr>
          <a:xfrm>
            <a:off x="10058400" y="2651760"/>
            <a:ext cx="1783080" cy="1737360"/>
          </a:xfrm>
          <a:prstGeom prst="rect">
            <a:avLst/>
          </a:prstGeom>
          <a:noFill/>
        </p:spPr>
        <p:txBody>
          <a:bodyPr wrap="square" anchor="t" lIns="45720" rIns="45720" tIns="18288" bIns="18288">
            <a:spAutoFit/>
          </a:bodyPr>
          <a:lstStyle/>
          <a:p>
            <a:pPr algn="l"/>
            <a:r>
              <a:rPr sz="1300" b="0">
                <a:solidFill>
                  <a:srgbClr val="E6EDF7"/>
                </a:solidFill>
                <a:latin typeface="Segoe UI"/>
              </a:rPr>
              <a:t>React, English and Hindi</a:t>
            </a:r>
          </a:p>
          <a:p>
            <a:pPr algn="l"/>
            <a:r>
              <a:rPr sz="1300" b="0">
                <a:solidFill>
                  <a:srgbClr val="E6EDF7"/>
                </a:solidFill>
                <a:latin typeface="Segoe UI"/>
              </a:rPr>
              <a:t>review, cases, learning</a:t>
            </a:r>
          </a:p>
          <a:p>
            <a:pPr algn="l"/>
            <a:r>
              <a:rPr sz="1300" b="0">
                <a:solidFill>
                  <a:srgbClr val="E6EDF7"/>
                </a:solidFill>
                <a:latin typeface="Segoe UI"/>
              </a:rPr>
              <a:t>citizen view</a:t>
            </a:r>
          </a:p>
        </p:txBody>
      </p:sp>
      <p:sp>
        <p:nvSpPr>
          <p:cNvPr id="24" name="TextBox 23"/>
          <p:cNvSpPr txBox="1"/>
          <p:nvPr/>
        </p:nvSpPr>
        <p:spPr>
          <a:xfrm>
            <a:off x="777240" y="4343400"/>
            <a:ext cx="10789920" cy="1463040"/>
          </a:xfrm>
          <a:prstGeom prst="rect">
            <a:avLst/>
          </a:prstGeom>
          <a:noFill/>
        </p:spPr>
        <p:txBody>
          <a:bodyPr wrap="square">
            <a:spAutoFit/>
          </a:bodyPr>
          <a:lstStyle/>
          <a:p>
            <a:pPr>
              <a:spcAft>
                <a:spcPts val="800"/>
              </a:spcAft>
            </a:pPr>
            <a:r>
              <a:rPr sz="1500">
                <a:solidFill>
                  <a:srgbClr val="F0934B"/>
                </a:solidFill>
                <a:latin typeface="Segoe UI"/>
              </a:rPr>
              <a:t>▸  </a:t>
            </a:r>
            <a:r>
              <a:rPr sz="1500">
                <a:solidFill>
                  <a:srgbClr val="94A6BF"/>
                </a:solidFill>
                <a:latin typeface="Segoe UI"/>
              </a:rPr>
              <a:t>The full pipeline runs in 194 seconds on an RTX 5060; uploads are scored by the same saved models.</a:t>
            </a:r>
          </a:p>
          <a:p>
            <a:pPr>
              <a:spcAft>
                <a:spcPts val="800"/>
              </a:spcAft>
            </a:pPr>
            <a:r>
              <a:rPr sz="1500">
                <a:solidFill>
                  <a:srgbClr val="F0934B"/>
                </a:solidFill>
                <a:latin typeface="Segoe UI"/>
              </a:rPr>
              <a:t>▸  </a:t>
            </a:r>
            <a:r>
              <a:rPr sz="1500">
                <a:solidFill>
                  <a:srgbClr val="94A6BF"/>
                </a:solidFill>
                <a:latin typeface="Segoe UI"/>
              </a:rPr>
              <a:t>Thresholds live in YAML config; the proxy label's flags are never model inputs (leakage rule enforced in code).</a:t>
            </a:r>
          </a:p>
        </p:txBody>
      </p:sp>
      <p:sp>
        <p:nvSpPr>
          <p:cNvPr id="25" name="TextBox 24"/>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26" name="TextBox 25"/>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COMMAND CENTRE</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Where to look first, with the denominator always shown</a:t>
            </a:r>
          </a:p>
        </p:txBody>
      </p:sp>
      <p:sp>
        <p:nvSpPr>
          <p:cNvPr id="5" name="Rectangle 4"/>
          <p:cNvSpPr/>
          <p:nvPr/>
        </p:nvSpPr>
        <p:spPr>
          <a:xfrm>
            <a:off x="740664" y="1517904"/>
            <a:ext cx="7571231" cy="4288739"/>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command-centre.jpg"/>
          <p:cNvPicPr>
            <a:picLocks noChangeAspect="1"/>
          </p:cNvPicPr>
          <p:nvPr/>
        </p:nvPicPr>
        <p:blipFill>
          <a:blip r:embed="rId2"/>
          <a:stretch>
            <a:fillRect/>
          </a:stretch>
        </p:blipFill>
        <p:spPr>
          <a:xfrm>
            <a:off x="777240" y="1554480"/>
            <a:ext cx="7498079" cy="4215587"/>
          </a:xfrm>
          <a:prstGeom prst="rect">
            <a:avLst/>
          </a:prstGeom>
        </p:spPr>
      </p:pic>
      <p:sp>
        <p:nvSpPr>
          <p:cNvPr id="7" name="Rounded Rectangle 6"/>
          <p:cNvSpPr/>
          <p:nvPr/>
        </p:nvSpPr>
        <p:spPr>
          <a:xfrm>
            <a:off x="8549640" y="1554480"/>
            <a:ext cx="288036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2519" y="1682495"/>
            <a:ext cx="2514600" cy="274320"/>
          </a:xfrm>
          <a:prstGeom prst="rect">
            <a:avLst/>
          </a:prstGeom>
          <a:noFill/>
        </p:spPr>
        <p:txBody>
          <a:bodyPr wrap="square" anchor="t" lIns="45720" rIns="45720" tIns="18288" bIns="18288">
            <a:spAutoFit/>
          </a:bodyPr>
          <a:lstStyle/>
          <a:p>
            <a:pPr algn="l"/>
            <a:r>
              <a:rPr sz="1000" b="1">
                <a:solidFill>
                  <a:srgbClr val="94A6BF"/>
                </a:solidFill>
                <a:latin typeface="Segoe UI"/>
              </a:rPr>
              <a:t>HIGH OR CRITICAL WORKS</a:t>
            </a:r>
          </a:p>
        </p:txBody>
      </p:sp>
      <p:sp>
        <p:nvSpPr>
          <p:cNvPr id="9" name="TextBox 8"/>
          <p:cNvSpPr txBox="1"/>
          <p:nvPr/>
        </p:nvSpPr>
        <p:spPr>
          <a:xfrm>
            <a:off x="8732519" y="1938528"/>
            <a:ext cx="2514600" cy="502920"/>
          </a:xfrm>
          <a:prstGeom prst="rect">
            <a:avLst/>
          </a:prstGeom>
          <a:noFill/>
        </p:spPr>
        <p:txBody>
          <a:bodyPr wrap="square" anchor="t" lIns="45720" rIns="45720" tIns="18288" bIns="18288">
            <a:spAutoFit/>
          </a:bodyPr>
          <a:lstStyle/>
          <a:p>
            <a:pPr algn="l"/>
            <a:r>
              <a:rPr sz="2600" b="1">
                <a:solidFill>
                  <a:srgbClr val="EAB308"/>
                </a:solidFill>
                <a:latin typeface="Segoe UI Semibold"/>
              </a:rPr>
              <a:t>6,456</a:t>
            </a:r>
          </a:p>
        </p:txBody>
      </p:sp>
      <p:sp>
        <p:nvSpPr>
          <p:cNvPr id="10" name="TextBox 9"/>
          <p:cNvSpPr txBox="1"/>
          <p:nvPr/>
        </p:nvSpPr>
        <p:spPr>
          <a:xfrm>
            <a:off x="8732519" y="2423160"/>
            <a:ext cx="2514600" cy="320040"/>
          </a:xfrm>
          <a:prstGeom prst="rect">
            <a:avLst/>
          </a:prstGeom>
          <a:noFill/>
        </p:spPr>
        <p:txBody>
          <a:bodyPr wrap="square" anchor="t" lIns="45720" rIns="45720" tIns="18288" bIns="18288">
            <a:spAutoFit/>
          </a:bodyPr>
          <a:lstStyle/>
          <a:p>
            <a:pPr algn="l"/>
            <a:r>
              <a:rPr sz="1100" b="0">
                <a:solidFill>
                  <a:srgbClr val="94A6BF"/>
                </a:solidFill>
                <a:latin typeface="Segoe UI"/>
              </a:rPr>
              <a:t>8.4% of all works</a:t>
            </a:r>
          </a:p>
        </p:txBody>
      </p:sp>
      <p:sp>
        <p:nvSpPr>
          <p:cNvPr id="11" name="Rounded Rectangle 10"/>
          <p:cNvSpPr/>
          <p:nvPr/>
        </p:nvSpPr>
        <p:spPr>
          <a:xfrm>
            <a:off x="8549640" y="2926080"/>
            <a:ext cx="288036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19" y="3054096"/>
            <a:ext cx="2514600" cy="274320"/>
          </a:xfrm>
          <a:prstGeom prst="rect">
            <a:avLst/>
          </a:prstGeom>
          <a:noFill/>
        </p:spPr>
        <p:txBody>
          <a:bodyPr wrap="square" anchor="t" lIns="45720" rIns="45720" tIns="18288" bIns="18288">
            <a:spAutoFit/>
          </a:bodyPr>
          <a:lstStyle/>
          <a:p>
            <a:pPr algn="l"/>
            <a:r>
              <a:rPr sz="1000" b="1">
                <a:solidFill>
                  <a:srgbClr val="94A6BF"/>
                </a:solidFill>
                <a:latin typeface="Segoe UI"/>
              </a:rPr>
              <a:t>MONEY AT RISK</a:t>
            </a:r>
          </a:p>
        </p:txBody>
      </p:sp>
      <p:sp>
        <p:nvSpPr>
          <p:cNvPr id="13" name="TextBox 12"/>
          <p:cNvSpPr txBox="1"/>
          <p:nvPr/>
        </p:nvSpPr>
        <p:spPr>
          <a:xfrm>
            <a:off x="8732519" y="3310128"/>
            <a:ext cx="2514600" cy="502920"/>
          </a:xfrm>
          <a:prstGeom prst="rect">
            <a:avLst/>
          </a:prstGeom>
          <a:noFill/>
        </p:spPr>
        <p:txBody>
          <a:bodyPr wrap="square" anchor="t" lIns="45720" rIns="45720" tIns="18288" bIns="18288">
            <a:spAutoFit/>
          </a:bodyPr>
          <a:lstStyle/>
          <a:p>
            <a:pPr algn="l"/>
            <a:r>
              <a:rPr sz="2600" b="1">
                <a:solidFill>
                  <a:srgbClr val="EF4444"/>
                </a:solidFill>
                <a:latin typeface="Segoe UI Semibold"/>
              </a:rPr>
              <a:t>₹1,085 crore</a:t>
            </a:r>
          </a:p>
        </p:txBody>
      </p:sp>
      <p:sp>
        <p:nvSpPr>
          <p:cNvPr id="14" name="TextBox 13"/>
          <p:cNvSpPr txBox="1"/>
          <p:nvPr/>
        </p:nvSpPr>
        <p:spPr>
          <a:xfrm>
            <a:off x="8732519" y="3794760"/>
            <a:ext cx="2514600" cy="320040"/>
          </a:xfrm>
          <a:prstGeom prst="rect">
            <a:avLst/>
          </a:prstGeom>
          <a:noFill/>
        </p:spPr>
        <p:txBody>
          <a:bodyPr wrap="square" anchor="t" lIns="45720" rIns="45720" tIns="18288" bIns="18288">
            <a:spAutoFit/>
          </a:bodyPr>
          <a:lstStyle/>
          <a:p>
            <a:pPr algn="l"/>
            <a:r>
              <a:rPr sz="1100" b="0">
                <a:solidFill>
                  <a:srgbClr val="94A6BF"/>
                </a:solidFill>
                <a:latin typeface="Segoe UI"/>
              </a:rPr>
              <a:t>22.9% of sanctioned value</a:t>
            </a:r>
          </a:p>
        </p:txBody>
      </p:sp>
      <p:sp>
        <p:nvSpPr>
          <p:cNvPr id="15" name="Rounded Rectangle 14"/>
          <p:cNvSpPr/>
          <p:nvPr/>
        </p:nvSpPr>
        <p:spPr>
          <a:xfrm>
            <a:off x="8549640" y="4297680"/>
            <a:ext cx="288036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19" y="4425696"/>
            <a:ext cx="2514600" cy="274320"/>
          </a:xfrm>
          <a:prstGeom prst="rect">
            <a:avLst/>
          </a:prstGeom>
          <a:noFill/>
        </p:spPr>
        <p:txBody>
          <a:bodyPr wrap="square" anchor="t" lIns="45720" rIns="45720" tIns="18288" bIns="18288">
            <a:spAutoFit/>
          </a:bodyPr>
          <a:lstStyle/>
          <a:p>
            <a:pPr algn="l"/>
            <a:r>
              <a:rPr sz="1000" b="1">
                <a:solidFill>
                  <a:srgbClr val="94A6BF"/>
                </a:solidFill>
                <a:latin typeface="Segoe UI"/>
              </a:rPr>
              <a:t>OPEN ALERTS</a:t>
            </a:r>
          </a:p>
        </p:txBody>
      </p:sp>
      <p:sp>
        <p:nvSpPr>
          <p:cNvPr id="17" name="TextBox 16"/>
          <p:cNvSpPr txBox="1"/>
          <p:nvPr/>
        </p:nvSpPr>
        <p:spPr>
          <a:xfrm>
            <a:off x="8732519" y="4681728"/>
            <a:ext cx="251460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10,749</a:t>
            </a:r>
          </a:p>
        </p:txBody>
      </p:sp>
      <p:sp>
        <p:nvSpPr>
          <p:cNvPr id="18" name="TextBox 17"/>
          <p:cNvSpPr txBox="1"/>
          <p:nvPr/>
        </p:nvSpPr>
        <p:spPr>
          <a:xfrm>
            <a:off x="8732519" y="5166360"/>
            <a:ext cx="2514600" cy="320040"/>
          </a:xfrm>
          <a:prstGeom prst="rect">
            <a:avLst/>
          </a:prstGeom>
          <a:noFill/>
        </p:spPr>
        <p:txBody>
          <a:bodyPr wrap="square" anchor="t" lIns="45720" rIns="45720" tIns="18288" bIns="18288">
            <a:spAutoFit/>
          </a:bodyPr>
          <a:lstStyle/>
          <a:p>
            <a:pPr algn="l"/>
            <a:r>
              <a:rPr sz="1100" b="0">
                <a:solidFill>
                  <a:srgbClr val="94A6BF"/>
                </a:solidFill>
                <a:latin typeface="Segoe UI"/>
              </a:rPr>
              <a:t>works, duplicate groups, splits</a:t>
            </a:r>
          </a:p>
        </p:txBody>
      </p:sp>
      <p:sp>
        <p:nvSpPr>
          <p:cNvPr id="19" name="TextBox 18"/>
          <p:cNvSpPr txBox="1"/>
          <p:nvPr/>
        </p:nvSpPr>
        <p:spPr>
          <a:xfrm>
            <a:off x="8549640" y="5623560"/>
            <a:ext cx="2880360" cy="640080"/>
          </a:xfrm>
          <a:prstGeom prst="rect">
            <a:avLst/>
          </a:prstGeom>
          <a:noFill/>
        </p:spPr>
        <p:txBody>
          <a:bodyPr wrap="square" anchor="t" lIns="45720" rIns="45720" tIns="18288" bIns="18288">
            <a:spAutoFit/>
          </a:bodyPr>
          <a:lstStyle/>
          <a:p>
            <a:pPr algn="l"/>
            <a:r>
              <a:rPr sz="1100" b="0">
                <a:solidFill>
                  <a:srgbClr val="94A6BF"/>
                </a:solidFill>
                <a:latin typeface="Segoe UI"/>
              </a:rPr>
              <a:t>Bands are percentiles: top 1% Critical, next 4% High, so the queue stays a workable size.</a:t>
            </a:r>
          </a:p>
        </p:txBody>
      </p:sp>
      <p:sp>
        <p:nvSpPr>
          <p:cNvPr id="20" name="TextBox 19"/>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21" name="TextBox 20"/>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ALERTS INBOX</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Every flag explained in English and Hindi</a:t>
            </a:r>
          </a:p>
        </p:txBody>
      </p:sp>
      <p:sp>
        <p:nvSpPr>
          <p:cNvPr id="5" name="Rectangle 4"/>
          <p:cNvSpPr/>
          <p:nvPr/>
        </p:nvSpPr>
        <p:spPr>
          <a:xfrm>
            <a:off x="740664" y="1517904"/>
            <a:ext cx="5559552" cy="3157728"/>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alert-drawer.jpg"/>
          <p:cNvPicPr>
            <a:picLocks noChangeAspect="1"/>
          </p:cNvPicPr>
          <p:nvPr/>
        </p:nvPicPr>
        <p:blipFill>
          <a:blip r:embed="rId2"/>
          <a:stretch>
            <a:fillRect/>
          </a:stretch>
        </p:blipFill>
        <p:spPr>
          <a:xfrm>
            <a:off x="777240" y="1554480"/>
            <a:ext cx="5486400" cy="3084576"/>
          </a:xfrm>
          <a:prstGeom prst="rect">
            <a:avLst/>
          </a:prstGeom>
        </p:spPr>
      </p:pic>
      <p:sp>
        <p:nvSpPr>
          <p:cNvPr id="7" name="Rectangle 6"/>
          <p:cNvSpPr/>
          <p:nvPr/>
        </p:nvSpPr>
        <p:spPr>
          <a:xfrm>
            <a:off x="6409944" y="1517904"/>
            <a:ext cx="5056632" cy="2874975"/>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nistry-what-would-clear.jpg"/>
          <p:cNvPicPr>
            <a:picLocks noChangeAspect="1"/>
          </p:cNvPicPr>
          <p:nvPr/>
        </p:nvPicPr>
        <p:blipFill>
          <a:blip r:embed="rId3"/>
          <a:stretch>
            <a:fillRect/>
          </a:stretch>
        </p:blipFill>
        <p:spPr>
          <a:xfrm>
            <a:off x="6446520" y="1554480"/>
            <a:ext cx="4983480" cy="2801823"/>
          </a:xfrm>
          <a:prstGeom prst="rect">
            <a:avLst/>
          </a:prstGeom>
        </p:spPr>
      </p:pic>
      <p:sp>
        <p:nvSpPr>
          <p:cNvPr id="9" name="TextBox 8"/>
          <p:cNvSpPr txBox="1"/>
          <p:nvPr/>
        </p:nvSpPr>
        <p:spPr>
          <a:xfrm>
            <a:off x="777240" y="4846320"/>
            <a:ext cx="10789920" cy="1463040"/>
          </a:xfrm>
          <a:prstGeom prst="rect">
            <a:avLst/>
          </a:prstGeom>
          <a:noFill/>
        </p:spPr>
        <p:txBody>
          <a:bodyPr wrap="square">
            <a:spAutoFit/>
          </a:bodyPr>
          <a:lstStyle/>
          <a:p>
            <a:pPr>
              <a:spcAft>
                <a:spcPts val="800"/>
              </a:spcAft>
            </a:pPr>
            <a:r>
              <a:rPr sz="1500">
                <a:solidFill>
                  <a:srgbClr val="F0934B"/>
                </a:solidFill>
                <a:latin typeface="Segoe UI"/>
              </a:rPr>
              <a:t>▸  </a:t>
            </a:r>
            <a:r>
              <a:rPr sz="1500">
                <a:solidFill>
                  <a:srgbClr val="E6EDF7"/>
                </a:solidFill>
                <a:latin typeface="Segoe UI"/>
              </a:rPr>
              <a:t>Keyboard triage (j, k, e), an evidence drawer with reasons, detector channels, peer cost comparison and the audit trail.</a:t>
            </a:r>
          </a:p>
          <a:p>
            <a:pPr>
              <a:spcAft>
                <a:spcPts val="800"/>
              </a:spcAft>
            </a:pPr>
            <a:r>
              <a:rPr sz="1500">
                <a:solidFill>
                  <a:srgbClr val="F0934B"/>
                </a:solidFill>
                <a:latin typeface="Segoe UI"/>
              </a:rPr>
              <a:t>▸  </a:t>
            </a:r>
            <a:r>
              <a:rPr sz="1500">
                <a:solidFill>
                  <a:srgbClr val="E6EDF7"/>
                </a:solidFill>
                <a:latin typeface="Segoe UI"/>
              </a:rPr>
              <a:t>"What would clear this" names the evidence a score rests on and the check that would resolve it, never what should have been sanctioned.</a:t>
            </a:r>
          </a:p>
        </p:txBody>
      </p:sp>
      <p:sp>
        <p:nvSpPr>
          <p:cNvPr id="10" name="TextBox 9"/>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1" name="TextBox 10"/>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DUPLICATES AND SPLIT WORKS</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One asset recorded twice, or one project cut into pieces</a:t>
            </a:r>
          </a:p>
        </p:txBody>
      </p:sp>
      <p:sp>
        <p:nvSpPr>
          <p:cNvPr id="5" name="Rectangle 4"/>
          <p:cNvSpPr/>
          <p:nvPr/>
        </p:nvSpPr>
        <p:spPr>
          <a:xfrm>
            <a:off x="740664" y="1517904"/>
            <a:ext cx="6839712" cy="3877462"/>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split-groups.jpg"/>
          <p:cNvPicPr>
            <a:picLocks noChangeAspect="1"/>
          </p:cNvPicPr>
          <p:nvPr/>
        </p:nvPicPr>
        <p:blipFill>
          <a:blip r:embed="rId2"/>
          <a:stretch>
            <a:fillRect/>
          </a:stretch>
        </p:blipFill>
        <p:spPr>
          <a:xfrm>
            <a:off x="777240" y="1554480"/>
            <a:ext cx="6766560" cy="3804310"/>
          </a:xfrm>
          <a:prstGeom prst="rect">
            <a:avLst/>
          </a:prstGeom>
        </p:spPr>
      </p:pic>
      <p:sp>
        <p:nvSpPr>
          <p:cNvPr id="7" name="Rounded Rectangle 6"/>
          <p:cNvSpPr/>
          <p:nvPr/>
        </p:nvSpPr>
        <p:spPr>
          <a:xfrm>
            <a:off x="7818120" y="1554480"/>
            <a:ext cx="361188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682495"/>
            <a:ext cx="3246120" cy="274320"/>
          </a:xfrm>
          <a:prstGeom prst="rect">
            <a:avLst/>
          </a:prstGeom>
          <a:noFill/>
        </p:spPr>
        <p:txBody>
          <a:bodyPr wrap="square" anchor="t" lIns="45720" rIns="45720" tIns="18288" bIns="18288">
            <a:spAutoFit/>
          </a:bodyPr>
          <a:lstStyle/>
          <a:p>
            <a:pPr algn="l"/>
            <a:r>
              <a:rPr sz="1000" b="1">
                <a:solidFill>
                  <a:srgbClr val="94A6BF"/>
                </a:solidFill>
                <a:latin typeface="Segoe UI"/>
              </a:rPr>
              <a:t>DUPLICATE PAIRS SCORED</a:t>
            </a:r>
          </a:p>
        </p:txBody>
      </p:sp>
      <p:sp>
        <p:nvSpPr>
          <p:cNvPr id="9" name="TextBox 8"/>
          <p:cNvSpPr txBox="1"/>
          <p:nvPr/>
        </p:nvSpPr>
        <p:spPr>
          <a:xfrm>
            <a:off x="8001000" y="1938528"/>
            <a:ext cx="324612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69,174</a:t>
            </a:r>
          </a:p>
        </p:txBody>
      </p:sp>
      <p:sp>
        <p:nvSpPr>
          <p:cNvPr id="10" name="TextBox 9"/>
          <p:cNvSpPr txBox="1"/>
          <p:nvPr/>
        </p:nvSpPr>
        <p:spPr>
          <a:xfrm>
            <a:off x="8001000" y="2423160"/>
            <a:ext cx="3246120" cy="320040"/>
          </a:xfrm>
          <a:prstGeom prst="rect">
            <a:avLst/>
          </a:prstGeom>
          <a:noFill/>
        </p:spPr>
        <p:txBody>
          <a:bodyPr wrap="square" anchor="t" lIns="45720" rIns="45720" tIns="18288" bIns="18288">
            <a:spAutoFit/>
          </a:bodyPr>
          <a:lstStyle/>
          <a:p>
            <a:pPr algn="l"/>
            <a:r>
              <a:rPr sz="1100" b="0">
                <a:solidFill>
                  <a:srgbClr val="94A6BF"/>
                </a:solidFill>
                <a:latin typeface="Segoe UI"/>
              </a:rPr>
              <a:t>3,618 groups, 17,482 works</a:t>
            </a:r>
          </a:p>
        </p:txBody>
      </p:sp>
      <p:sp>
        <p:nvSpPr>
          <p:cNvPr id="11" name="Rounded Rectangle 10"/>
          <p:cNvSpPr/>
          <p:nvPr/>
        </p:nvSpPr>
        <p:spPr>
          <a:xfrm>
            <a:off x="7818120" y="2926080"/>
            <a:ext cx="361188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054096"/>
            <a:ext cx="3246120" cy="274320"/>
          </a:xfrm>
          <a:prstGeom prst="rect">
            <a:avLst/>
          </a:prstGeom>
          <a:noFill/>
        </p:spPr>
        <p:txBody>
          <a:bodyPr wrap="square" anchor="t" lIns="45720" rIns="45720" tIns="18288" bIns="18288">
            <a:spAutoFit/>
          </a:bodyPr>
          <a:lstStyle/>
          <a:p>
            <a:pPr algn="l"/>
            <a:r>
              <a:rPr sz="1000" b="1">
                <a:solidFill>
                  <a:srgbClr val="94A6BF"/>
                </a:solidFill>
                <a:latin typeface="Segoe UI"/>
              </a:rPr>
              <a:t>SPLIT-WORK GROUPS</a:t>
            </a:r>
          </a:p>
        </p:txBody>
      </p:sp>
      <p:sp>
        <p:nvSpPr>
          <p:cNvPr id="13" name="TextBox 12"/>
          <p:cNvSpPr txBox="1"/>
          <p:nvPr/>
        </p:nvSpPr>
        <p:spPr>
          <a:xfrm>
            <a:off x="8001000" y="3310128"/>
            <a:ext cx="324612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1,004</a:t>
            </a:r>
          </a:p>
        </p:txBody>
      </p:sp>
      <p:sp>
        <p:nvSpPr>
          <p:cNvPr id="14" name="TextBox 13"/>
          <p:cNvSpPr txBox="1"/>
          <p:nvPr/>
        </p:nvSpPr>
        <p:spPr>
          <a:xfrm>
            <a:off x="8001000" y="3794760"/>
            <a:ext cx="3246120" cy="320040"/>
          </a:xfrm>
          <a:prstGeom prst="rect">
            <a:avLst/>
          </a:prstGeom>
          <a:noFill/>
        </p:spPr>
        <p:txBody>
          <a:bodyPr wrap="square" anchor="t" lIns="45720" rIns="45720" tIns="18288" bIns="18288">
            <a:spAutoFit/>
          </a:bodyPr>
          <a:lstStyle/>
          <a:p>
            <a:pPr algn="l"/>
            <a:r>
              <a:rPr sz="1100" b="0">
                <a:solidFill>
                  <a:srgbClr val="94A6BF"/>
                </a:solidFill>
                <a:latin typeface="Segoe UI"/>
              </a:rPr>
              <a:t>6,801 works, 492 with one vendor</a:t>
            </a:r>
          </a:p>
        </p:txBody>
      </p:sp>
      <p:sp>
        <p:nvSpPr>
          <p:cNvPr id="15" name="Rounded Rectangle 14"/>
          <p:cNvSpPr/>
          <p:nvPr/>
        </p:nvSpPr>
        <p:spPr>
          <a:xfrm>
            <a:off x="7818120" y="4343400"/>
            <a:ext cx="3611880" cy="1737360"/>
          </a:xfrm>
          <a:prstGeom prst="roundRect">
            <a:avLst>
              <a:gd name="adj" fmla="val 6000"/>
            </a:avLst>
          </a:prstGeom>
          <a:solidFill>
            <a:srgbClr val="3A2A0A"/>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4434840"/>
            <a:ext cx="3291840" cy="320040"/>
          </a:xfrm>
          <a:prstGeom prst="rect">
            <a:avLst/>
          </a:prstGeom>
          <a:noFill/>
        </p:spPr>
        <p:txBody>
          <a:bodyPr wrap="square" anchor="t" lIns="45720" rIns="45720" tIns="18288" bIns="18288">
            <a:spAutoFit/>
          </a:bodyPr>
          <a:lstStyle/>
          <a:p>
            <a:pPr algn="l"/>
            <a:r>
              <a:rPr sz="1100" b="1">
                <a:solidFill>
                  <a:srgbClr val="EAB308"/>
                </a:solidFill>
                <a:latin typeface="Segoe UI"/>
              </a:rPr>
              <a:t>OUR WEAKEST DETECTOR</a:t>
            </a:r>
          </a:p>
        </p:txBody>
      </p:sp>
      <p:sp>
        <p:nvSpPr>
          <p:cNvPr id="17" name="TextBox 16"/>
          <p:cNvSpPr txBox="1"/>
          <p:nvPr/>
        </p:nvSpPr>
        <p:spPr>
          <a:xfrm>
            <a:off x="8001000" y="4709160"/>
            <a:ext cx="3291840" cy="1325880"/>
          </a:xfrm>
          <a:prstGeom prst="rect">
            <a:avLst/>
          </a:prstGeom>
          <a:noFill/>
        </p:spPr>
        <p:txBody>
          <a:bodyPr wrap="square" anchor="t" lIns="45720" rIns="45720" tIns="18288" bIns="18288">
            <a:spAutoFit/>
          </a:bodyPr>
          <a:lstStyle/>
          <a:p>
            <a:pPr algn="l"/>
            <a:r>
              <a:rPr sz="1300" b="0">
                <a:solidFill>
                  <a:srgbClr val="E6EDF7"/>
                </a:solidFill>
                <a:latin typeface="Segoe UI"/>
              </a:rPr>
              <a:t>The split-work detector flags only 46% of planted split groups. It is the main open item, and the dashboard says so wherever splits appear.</a:t>
            </a:r>
          </a:p>
        </p:txBody>
      </p:sp>
      <p:sp>
        <p:nvSpPr>
          <p:cNvPr id="18" name="TextBox 17"/>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9" name="TextBox 18"/>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DELAYS AND EARLY WARNING</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Which open works are likely to run past a year</a:t>
            </a:r>
          </a:p>
        </p:txBody>
      </p:sp>
      <p:sp>
        <p:nvSpPr>
          <p:cNvPr id="5" name="Rectangle 4"/>
          <p:cNvSpPr/>
          <p:nvPr/>
        </p:nvSpPr>
        <p:spPr>
          <a:xfrm>
            <a:off x="740664" y="1517904"/>
            <a:ext cx="6839712" cy="3877462"/>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delays.jpg"/>
          <p:cNvPicPr>
            <a:picLocks noChangeAspect="1"/>
          </p:cNvPicPr>
          <p:nvPr/>
        </p:nvPicPr>
        <p:blipFill>
          <a:blip r:embed="rId2"/>
          <a:stretch>
            <a:fillRect/>
          </a:stretch>
        </p:blipFill>
        <p:spPr>
          <a:xfrm>
            <a:off x="777240" y="1554480"/>
            <a:ext cx="6766560" cy="3804310"/>
          </a:xfrm>
          <a:prstGeom prst="rect">
            <a:avLst/>
          </a:prstGeom>
        </p:spPr>
      </p:pic>
      <p:sp>
        <p:nvSpPr>
          <p:cNvPr id="7" name="Rounded Rectangle 6"/>
          <p:cNvSpPr/>
          <p:nvPr/>
        </p:nvSpPr>
        <p:spPr>
          <a:xfrm>
            <a:off x="7818120" y="1554480"/>
            <a:ext cx="361188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682495"/>
            <a:ext cx="3246120" cy="274320"/>
          </a:xfrm>
          <a:prstGeom prst="rect">
            <a:avLst/>
          </a:prstGeom>
          <a:noFill/>
        </p:spPr>
        <p:txBody>
          <a:bodyPr wrap="square" anchor="t" lIns="45720" rIns="45720" tIns="18288" bIns="18288">
            <a:spAutoFit/>
          </a:bodyPr>
          <a:lstStyle/>
          <a:p>
            <a:pPr algn="l"/>
            <a:r>
              <a:rPr sz="1000" b="1">
                <a:solidFill>
                  <a:srgbClr val="94A6BF"/>
                </a:solidFill>
                <a:latin typeface="Segoe UI"/>
              </a:rPr>
              <a:t>HOLDOUT ROC-AUC</a:t>
            </a:r>
          </a:p>
        </p:txBody>
      </p:sp>
      <p:sp>
        <p:nvSpPr>
          <p:cNvPr id="9" name="TextBox 8"/>
          <p:cNvSpPr txBox="1"/>
          <p:nvPr/>
        </p:nvSpPr>
        <p:spPr>
          <a:xfrm>
            <a:off x="8001000" y="1938528"/>
            <a:ext cx="324612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0.909</a:t>
            </a:r>
          </a:p>
        </p:txBody>
      </p:sp>
      <p:sp>
        <p:nvSpPr>
          <p:cNvPr id="10" name="TextBox 9"/>
          <p:cNvSpPr txBox="1"/>
          <p:nvPr/>
        </p:nvSpPr>
        <p:spPr>
          <a:xfrm>
            <a:off x="8001000" y="2423160"/>
            <a:ext cx="3246120" cy="320040"/>
          </a:xfrm>
          <a:prstGeom prst="rect">
            <a:avLst/>
          </a:prstGeom>
          <a:noFill/>
        </p:spPr>
        <p:txBody>
          <a:bodyPr wrap="square" anchor="t" lIns="45720" rIns="45720" tIns="18288" bIns="18288">
            <a:spAutoFit/>
          </a:bodyPr>
          <a:lstStyle/>
          <a:p>
            <a:pPr algn="l"/>
            <a:r>
              <a:rPr sz="1100" b="0">
                <a:solidFill>
                  <a:srgbClr val="94A6BF"/>
                </a:solidFill>
                <a:latin typeface="Segoe UI"/>
              </a:rPr>
              <a:t>PR-AUC 0.873 on 2,023 labelled works</a:t>
            </a:r>
          </a:p>
        </p:txBody>
      </p:sp>
      <p:sp>
        <p:nvSpPr>
          <p:cNvPr id="11" name="Rounded Rectangle 10"/>
          <p:cNvSpPr/>
          <p:nvPr/>
        </p:nvSpPr>
        <p:spPr>
          <a:xfrm>
            <a:off x="7818120" y="2926080"/>
            <a:ext cx="3611880" cy="123444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054096"/>
            <a:ext cx="3246120" cy="274320"/>
          </a:xfrm>
          <a:prstGeom prst="rect">
            <a:avLst/>
          </a:prstGeom>
          <a:noFill/>
        </p:spPr>
        <p:txBody>
          <a:bodyPr wrap="square" anchor="t" lIns="45720" rIns="45720" tIns="18288" bIns="18288">
            <a:spAutoFit/>
          </a:bodyPr>
          <a:lstStyle/>
          <a:p>
            <a:pPr algn="l"/>
            <a:r>
              <a:rPr sz="1000" b="1">
                <a:solidFill>
                  <a:srgbClr val="94A6BF"/>
                </a:solidFill>
                <a:latin typeface="Segoe UI"/>
              </a:rPr>
              <a:t>HELD-OUT CONSTITUENCIES</a:t>
            </a:r>
          </a:p>
        </p:txBody>
      </p:sp>
      <p:sp>
        <p:nvSpPr>
          <p:cNvPr id="13" name="TextBox 12"/>
          <p:cNvSpPr txBox="1"/>
          <p:nvPr/>
        </p:nvSpPr>
        <p:spPr>
          <a:xfrm>
            <a:off x="8001000" y="3310128"/>
            <a:ext cx="3246120" cy="502920"/>
          </a:xfrm>
          <a:prstGeom prst="rect">
            <a:avLst/>
          </a:prstGeom>
          <a:noFill/>
        </p:spPr>
        <p:txBody>
          <a:bodyPr wrap="square" anchor="t" lIns="45720" rIns="45720" tIns="18288" bIns="18288">
            <a:spAutoFit/>
          </a:bodyPr>
          <a:lstStyle/>
          <a:p>
            <a:pPr algn="l"/>
            <a:r>
              <a:rPr sz="2600" b="1">
                <a:solidFill>
                  <a:srgbClr val="E6EDF7"/>
                </a:solidFill>
                <a:latin typeface="Segoe UI Semibold"/>
              </a:rPr>
              <a:t>27</a:t>
            </a:r>
          </a:p>
        </p:txBody>
      </p:sp>
      <p:sp>
        <p:nvSpPr>
          <p:cNvPr id="14" name="TextBox 13"/>
          <p:cNvSpPr txBox="1"/>
          <p:nvPr/>
        </p:nvSpPr>
        <p:spPr>
          <a:xfrm>
            <a:off x="8001000" y="3794760"/>
            <a:ext cx="3246120" cy="320040"/>
          </a:xfrm>
          <a:prstGeom prst="rect">
            <a:avLst/>
          </a:prstGeom>
          <a:noFill/>
        </p:spPr>
        <p:txBody>
          <a:bodyPr wrap="square" anchor="t" lIns="45720" rIns="45720" tIns="18288" bIns="18288">
            <a:spAutoFit/>
          </a:bodyPr>
          <a:lstStyle/>
          <a:p>
            <a:pPr algn="l"/>
            <a:r>
              <a:rPr sz="1100" b="0">
                <a:solidFill>
                  <a:srgbClr val="94A6BF"/>
                </a:solidFill>
                <a:latin typeface="Segoe UI"/>
              </a:rPr>
              <a:t>3,890 works removed before any fitting</a:t>
            </a:r>
          </a:p>
        </p:txBody>
      </p:sp>
      <p:sp>
        <p:nvSpPr>
          <p:cNvPr id="15" name="TextBox 14"/>
          <p:cNvSpPr txBox="1"/>
          <p:nvPr/>
        </p:nvSpPr>
        <p:spPr>
          <a:xfrm>
            <a:off x="7818120" y="4343400"/>
            <a:ext cx="3611880" cy="2011680"/>
          </a:xfrm>
          <a:prstGeom prst="rect">
            <a:avLst/>
          </a:prstGeom>
          <a:noFill/>
        </p:spPr>
        <p:txBody>
          <a:bodyPr wrap="square">
            <a:spAutoFit/>
          </a:bodyPr>
          <a:lstStyle/>
          <a:p>
            <a:pPr>
              <a:spcAft>
                <a:spcPts val="800"/>
              </a:spcAft>
            </a:pPr>
            <a:r>
              <a:rPr sz="1300">
                <a:solidFill>
                  <a:srgbClr val="F0934B"/>
                </a:solidFill>
                <a:latin typeface="Segoe UI"/>
              </a:rPr>
              <a:t>▸  </a:t>
            </a:r>
            <a:r>
              <a:rPr sz="1300">
                <a:solidFill>
                  <a:srgbClr val="94A6BF"/>
                </a:solidFill>
                <a:latin typeface="Segoe UI"/>
              </a:rPr>
              <a:t>Time-split ROC-AUC 0.873 inside training.</a:t>
            </a:r>
          </a:p>
          <a:p>
            <a:pPr>
              <a:spcAft>
                <a:spcPts val="800"/>
              </a:spcAft>
            </a:pPr>
            <a:r>
              <a:rPr sz="1300">
                <a:solidFill>
                  <a:srgbClr val="F0934B"/>
                </a:solidFill>
                <a:latin typeface="Segoe UI"/>
              </a:rPr>
              <a:t>▸  </a:t>
            </a:r>
            <a:r>
              <a:rPr sz="1300">
                <a:solidFill>
                  <a:srgbClr val="94A6BF"/>
                </a:solidFill>
                <a:latin typeface="Segoe UI"/>
              </a:rPr>
              <a:t>Fund-lapse figures are labelled estimates: the extract has no release ledger.</a:t>
            </a:r>
          </a:p>
        </p:txBody>
      </p:sp>
      <p:sp>
        <p:nvSpPr>
          <p:cNvPr id="16" name="TextBox 15"/>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7" name="TextBox 16"/>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FOUR ROLES, ONE SOURCE OF TRUTH</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Everyone sees exactly their scope, enforced on every query</a:t>
            </a:r>
          </a:p>
        </p:txBody>
      </p:sp>
      <p:sp>
        <p:nvSpPr>
          <p:cNvPr id="5" name="Rectangle 4"/>
          <p:cNvSpPr/>
          <p:nvPr/>
        </p:nvSpPr>
        <p:spPr>
          <a:xfrm>
            <a:off x="740664" y="1517904"/>
            <a:ext cx="5468112" cy="3106318"/>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risk-map.jpg"/>
          <p:cNvPicPr>
            <a:picLocks noChangeAspect="1"/>
          </p:cNvPicPr>
          <p:nvPr/>
        </p:nvPicPr>
        <p:blipFill>
          <a:blip r:embed="rId2"/>
          <a:stretch>
            <a:fillRect/>
          </a:stretch>
        </p:blipFill>
        <p:spPr>
          <a:xfrm>
            <a:off x="777240" y="1554480"/>
            <a:ext cx="5394960" cy="3033166"/>
          </a:xfrm>
          <a:prstGeom prst="rect">
            <a:avLst/>
          </a:prstGeom>
        </p:spPr>
      </p:pic>
      <p:sp>
        <p:nvSpPr>
          <p:cNvPr id="7" name="Rectangle 6"/>
          <p:cNvSpPr/>
          <p:nvPr/>
        </p:nvSpPr>
        <p:spPr>
          <a:xfrm>
            <a:off x="6318504" y="1517904"/>
            <a:ext cx="5148072" cy="2926384"/>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ate-risk-map.jpg"/>
          <p:cNvPicPr>
            <a:picLocks noChangeAspect="1"/>
          </p:cNvPicPr>
          <p:nvPr/>
        </p:nvPicPr>
        <p:blipFill>
          <a:blip r:embed="rId3"/>
          <a:stretch>
            <a:fillRect/>
          </a:stretch>
        </p:blipFill>
        <p:spPr>
          <a:xfrm>
            <a:off x="6355080" y="1554480"/>
            <a:ext cx="5074920" cy="2853233"/>
          </a:xfrm>
          <a:prstGeom prst="rect">
            <a:avLst/>
          </a:prstGeom>
        </p:spPr>
      </p:pic>
      <p:sp>
        <p:nvSpPr>
          <p:cNvPr id="9" name="TextBox 8"/>
          <p:cNvSpPr txBox="1"/>
          <p:nvPr/>
        </p:nvSpPr>
        <p:spPr>
          <a:xfrm>
            <a:off x="777240" y="4846320"/>
            <a:ext cx="10789920" cy="1463040"/>
          </a:xfrm>
          <a:prstGeom prst="rect">
            <a:avLst/>
          </a:prstGeom>
          <a:noFill/>
        </p:spPr>
        <p:txBody>
          <a:bodyPr wrap="square">
            <a:spAutoFit/>
          </a:bodyPr>
          <a:lstStyle/>
          <a:p>
            <a:pPr>
              <a:spcAft>
                <a:spcPts val="800"/>
              </a:spcAft>
            </a:pPr>
            <a:r>
              <a:rPr sz="1500">
                <a:solidFill>
                  <a:srgbClr val="F0934B"/>
                </a:solidFill>
                <a:latin typeface="Segoe UI"/>
              </a:rPr>
              <a:t>▸  </a:t>
            </a:r>
            <a:r>
              <a:rPr sz="1500">
                <a:solidFill>
                  <a:srgbClr val="E6EDF7"/>
                </a:solidFill>
                <a:latin typeface="Segoe UI"/>
              </a:rPr>
              <a:t>Ministry: all India. State: its state. District: its office (270 works for Lucknow). MP: implementation risk of works recommended in their constituency, never a judgement of the Member.</a:t>
            </a:r>
          </a:p>
          <a:p>
            <a:pPr>
              <a:spcAft>
                <a:spcPts val="800"/>
              </a:spcAft>
            </a:pPr>
            <a:r>
              <a:rPr sz="1500">
                <a:solidFill>
                  <a:srgbClr val="F0934B"/>
                </a:solidFill>
                <a:latin typeface="Segoe UI"/>
              </a:rPr>
              <a:t>▸  </a:t>
            </a:r>
            <a:r>
              <a:rPr sz="1500">
                <a:solidFill>
                  <a:srgbClr val="E6EDF7"/>
                </a:solidFill>
                <a:latin typeface="Segoe UI"/>
              </a:rPr>
              <a:t>An out-of-scope id answers 404, so the API does not even confirm it exists. End-to-end tests log in as each role to prove it.</a:t>
            </a:r>
          </a:p>
        </p:txBody>
      </p:sp>
      <p:sp>
        <p:nvSpPr>
          <p:cNvPr id="10" name="TextBox 9"/>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1" name="TextBox 10"/>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LEARNING FROM REVIEWERS</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Verdicts re-weight detectors, measured on held-back labels</a:t>
            </a:r>
          </a:p>
        </p:txBody>
      </p:sp>
      <p:sp>
        <p:nvSpPr>
          <p:cNvPr id="5" name="Rectangle 4"/>
          <p:cNvSpPr/>
          <p:nvPr/>
        </p:nvSpPr>
        <p:spPr>
          <a:xfrm>
            <a:off x="740664" y="1517904"/>
            <a:ext cx="5559552" cy="3157728"/>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inistry-learning.jpg"/>
          <p:cNvPicPr>
            <a:picLocks noChangeAspect="1"/>
          </p:cNvPicPr>
          <p:nvPr/>
        </p:nvPicPr>
        <p:blipFill>
          <a:blip r:embed="rId2"/>
          <a:stretch>
            <a:fillRect/>
          </a:stretch>
        </p:blipFill>
        <p:spPr>
          <a:xfrm>
            <a:off x="777240" y="1554480"/>
            <a:ext cx="5486400" cy="3084576"/>
          </a:xfrm>
          <a:prstGeom prst="rect">
            <a:avLst/>
          </a:prstGeom>
        </p:spPr>
      </p:pic>
      <p:sp>
        <p:nvSpPr>
          <p:cNvPr id="7" name="Rectangle 6"/>
          <p:cNvSpPr/>
          <p:nvPr/>
        </p:nvSpPr>
        <p:spPr>
          <a:xfrm>
            <a:off x="6409944" y="1517904"/>
            <a:ext cx="5056632" cy="2874975"/>
          </a:xfrm>
          <a:prstGeom prst="rect">
            <a:avLst/>
          </a:prstGeom>
          <a:solidFill>
            <a:srgbClr val="24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nistry-simulator-changed.jpg"/>
          <p:cNvPicPr>
            <a:picLocks noChangeAspect="1"/>
          </p:cNvPicPr>
          <p:nvPr/>
        </p:nvPicPr>
        <p:blipFill>
          <a:blip r:embed="rId3"/>
          <a:stretch>
            <a:fillRect/>
          </a:stretch>
        </p:blipFill>
        <p:spPr>
          <a:xfrm>
            <a:off x="6446520" y="1554480"/>
            <a:ext cx="4983480" cy="2801823"/>
          </a:xfrm>
          <a:prstGeom prst="rect">
            <a:avLst/>
          </a:prstGeom>
        </p:spPr>
      </p:pic>
      <p:sp>
        <p:nvSpPr>
          <p:cNvPr id="9" name="TextBox 8"/>
          <p:cNvSpPr txBox="1"/>
          <p:nvPr/>
        </p:nvSpPr>
        <p:spPr>
          <a:xfrm>
            <a:off x="777240" y="4846320"/>
            <a:ext cx="10789920" cy="1463040"/>
          </a:xfrm>
          <a:prstGeom prst="rect">
            <a:avLst/>
          </a:prstGeom>
          <a:noFill/>
        </p:spPr>
        <p:txBody>
          <a:bodyPr wrap="square">
            <a:spAutoFit/>
          </a:bodyPr>
          <a:lstStyle/>
          <a:p>
            <a:pPr>
              <a:spcAft>
                <a:spcPts val="800"/>
              </a:spcAft>
            </a:pPr>
            <a:r>
              <a:rPr sz="1400">
                <a:solidFill>
                  <a:srgbClr val="F0934B"/>
                </a:solidFill>
                <a:latin typeface="Segoe UI"/>
              </a:rPr>
              <a:t>▸  </a:t>
            </a:r>
            <a:r>
              <a:rPr sz="1400">
                <a:solidFill>
                  <a:srgbClr val="E6EDF7"/>
                </a:solidFill>
                <a:latin typeface="Segoe UI"/>
              </a:rPr>
              <a:t>On 110 held-back labels, precision at 50 is 0.94 with configured weights and 0.96 with the re-ranker (base rate 0.64).</a:t>
            </a:r>
          </a:p>
          <a:p>
            <a:pPr>
              <a:spcAft>
                <a:spcPts val="800"/>
              </a:spcAft>
            </a:pPr>
            <a:r>
              <a:rPr sz="1400">
                <a:solidFill>
                  <a:srgbClr val="F0934B"/>
                </a:solidFill>
                <a:latin typeface="Segoe UI"/>
              </a:rPr>
              <a:t>▸  </a:t>
            </a:r>
            <a:r>
              <a:rPr sz="1400">
                <a:solidFill>
                  <a:srgbClr val="E6EDF7"/>
                </a:solidFill>
                <a:latin typeface="Segoe UI"/>
              </a:rPr>
              <a:t>Labels so far are planted synthetic cases and rule-seeded benign patterns: this shows the mechanism, not field precision. Nothing is applied automatically; the threshold simulator shows what a change would do first.</a:t>
            </a:r>
          </a:p>
        </p:txBody>
      </p:sp>
      <p:sp>
        <p:nvSpPr>
          <p:cNvPr id="10" name="TextBox 9"/>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1" name="TextBox 10"/>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HOW WE MEASURED</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Planted anomalies, judged in each detector's own queue</a:t>
            </a:r>
          </a:p>
        </p:txBody>
      </p:sp>
      <p:graphicFrame>
        <p:nvGraphicFramePr>
          <p:cNvPr id="5" name="Table 4"/>
          <p:cNvGraphicFramePr>
            <a:graphicFrameLocks noGrp="1"/>
          </p:cNvGraphicFramePr>
          <p:nvPr/>
        </p:nvGraphicFramePr>
        <p:xfrm>
          <a:off x="777240" y="1600200"/>
          <a:ext cx="6949440" cy="2286000"/>
        </p:xfrm>
        <a:graphic>
          <a:graphicData uri="http://schemas.openxmlformats.org/drawingml/2006/table">
            <a:tbl>
              <a:tblPr firstRow="1" bandRow="1">
                <a:tableStyleId>{5C22544A-7EE6-4342-B048-85BDC9FD1C3A}</a:tableStyleId>
              </a:tblPr>
              <a:tblGrid>
                <a:gridCol w="1737360"/>
                <a:gridCol w="1737360"/>
                <a:gridCol w="1737360"/>
                <a:gridCol w="1737360"/>
              </a:tblGrid>
              <a:tr h="457200">
                <a:tc>
                  <a:txBody>
                    <a:bodyPr/>
                    <a:lstStyle/>
                    <a:p>
                      <a:r>
                        <a:rPr sz="1200" b="1">
                          <a:solidFill>
                            <a:srgbClr val="94A6BF"/>
                          </a:solidFill>
                        </a:rPr>
                        <a:t>Detector</a:t>
                      </a:r>
                    </a:p>
                  </a:txBody>
                  <a:tcPr>
                    <a:solidFill>
                      <a:srgbClr val="122A4C"/>
                    </a:solidFill>
                  </a:tcPr>
                </a:tc>
                <a:tc>
                  <a:txBody>
                    <a:bodyPr/>
                    <a:lstStyle/>
                    <a:p>
                      <a:r>
                        <a:rPr sz="1200" b="1">
                          <a:solidFill>
                            <a:srgbClr val="94A6BF"/>
                          </a:solidFill>
                        </a:rPr>
                        <a:t>Fired on planted</a:t>
                      </a:r>
                    </a:p>
                  </a:txBody>
                  <a:tcPr>
                    <a:solidFill>
                      <a:srgbClr val="122A4C"/>
                    </a:solidFill>
                  </a:tcPr>
                </a:tc>
                <a:tc>
                  <a:txBody>
                    <a:bodyPr/>
                    <a:lstStyle/>
                    <a:p>
                      <a:r>
                        <a:rPr sz="1200" b="1">
                          <a:solidFill>
                            <a:srgbClr val="94A6BF"/>
                          </a:solidFill>
                        </a:rPr>
                        <a:t>Found in top 5% of queue</a:t>
                      </a:r>
                    </a:p>
                  </a:txBody>
                  <a:tcPr>
                    <a:solidFill>
                      <a:srgbClr val="122A4C"/>
                    </a:solidFill>
                  </a:tcPr>
                </a:tc>
                <a:tc>
                  <a:txBody>
                    <a:bodyPr/>
                    <a:lstStyle/>
                    <a:p>
                      <a:r>
                        <a:rPr sz="1200" b="1">
                          <a:solidFill>
                            <a:srgbClr val="94A6BF"/>
                          </a:solidFill>
                        </a:rPr>
                        <a:t>Top 10%</a:t>
                      </a:r>
                    </a:p>
                  </a:txBody>
                  <a:tcPr>
                    <a:solidFill>
                      <a:srgbClr val="122A4C"/>
                    </a:solidFill>
                  </a:tcPr>
                </a:tc>
              </a:tr>
              <a:tr h="457200">
                <a:tc>
                  <a:txBody>
                    <a:bodyPr/>
                    <a:lstStyle/>
                    <a:p>
                      <a:r>
                        <a:rPr sz="1400">
                          <a:solidFill>
                            <a:srgbClr val="E6EDF7"/>
                          </a:solidFill>
                        </a:rPr>
                        <a:t>Inflated cost</a:t>
                      </a:r>
                    </a:p>
                  </a:txBody>
                  <a:tcPr>
                    <a:solidFill>
                      <a:srgbClr val="0B1F3A"/>
                    </a:solidFill>
                  </a:tcPr>
                </a:tc>
                <a:tc>
                  <a:txBody>
                    <a:bodyPr/>
                    <a:lstStyle/>
                    <a:p>
                      <a:r>
                        <a:rPr sz="1400">
                          <a:solidFill>
                            <a:srgbClr val="E6EDF7"/>
                          </a:solidFill>
                        </a:rPr>
                        <a:t>97%</a:t>
                      </a:r>
                    </a:p>
                  </a:txBody>
                  <a:tcPr>
                    <a:solidFill>
                      <a:srgbClr val="0B1F3A"/>
                    </a:solidFill>
                  </a:tcPr>
                </a:tc>
                <a:tc>
                  <a:txBody>
                    <a:bodyPr/>
                    <a:lstStyle/>
                    <a:p>
                      <a:r>
                        <a:rPr sz="1400">
                          <a:solidFill>
                            <a:srgbClr val="E6EDF7"/>
                          </a:solidFill>
                        </a:rPr>
                        <a:t>79%</a:t>
                      </a:r>
                    </a:p>
                  </a:txBody>
                  <a:tcPr>
                    <a:solidFill>
                      <a:srgbClr val="0B1F3A"/>
                    </a:solidFill>
                  </a:tcPr>
                </a:tc>
                <a:tc>
                  <a:txBody>
                    <a:bodyPr/>
                    <a:lstStyle/>
                    <a:p>
                      <a:r>
                        <a:rPr sz="1400">
                          <a:solidFill>
                            <a:srgbClr val="E6EDF7"/>
                          </a:solidFill>
                        </a:rPr>
                        <a:t>95%</a:t>
                      </a:r>
                    </a:p>
                  </a:txBody>
                  <a:tcPr>
                    <a:solidFill>
                      <a:srgbClr val="0B1F3A"/>
                    </a:solidFill>
                  </a:tcPr>
                </a:tc>
              </a:tr>
              <a:tr h="457200">
                <a:tc>
                  <a:txBody>
                    <a:bodyPr/>
                    <a:lstStyle/>
                    <a:p>
                      <a:r>
                        <a:rPr sz="1400">
                          <a:solidFill>
                            <a:srgbClr val="E6EDF7"/>
                          </a:solidFill>
                        </a:rPr>
                        <a:t>Implausibly fast completion</a:t>
                      </a:r>
                    </a:p>
                  </a:txBody>
                  <a:tcPr>
                    <a:solidFill>
                      <a:srgbClr val="061224"/>
                    </a:solidFill>
                  </a:tcPr>
                </a:tc>
                <a:tc>
                  <a:txBody>
                    <a:bodyPr/>
                    <a:lstStyle/>
                    <a:p>
                      <a:r>
                        <a:rPr sz="1400">
                          <a:solidFill>
                            <a:srgbClr val="E6EDF7"/>
                          </a:solidFill>
                        </a:rPr>
                        <a:t>100%</a:t>
                      </a:r>
                    </a:p>
                  </a:txBody>
                  <a:tcPr>
                    <a:solidFill>
                      <a:srgbClr val="061224"/>
                    </a:solidFill>
                  </a:tcPr>
                </a:tc>
                <a:tc>
                  <a:txBody>
                    <a:bodyPr/>
                    <a:lstStyle/>
                    <a:p>
                      <a:r>
                        <a:rPr sz="1400">
                          <a:solidFill>
                            <a:srgbClr val="E6EDF7"/>
                          </a:solidFill>
                        </a:rPr>
                        <a:t>100%</a:t>
                      </a:r>
                    </a:p>
                  </a:txBody>
                  <a:tcPr>
                    <a:solidFill>
                      <a:srgbClr val="061224"/>
                    </a:solidFill>
                  </a:tcPr>
                </a:tc>
                <a:tc>
                  <a:txBody>
                    <a:bodyPr/>
                    <a:lstStyle/>
                    <a:p>
                      <a:r>
                        <a:rPr sz="1400">
                          <a:solidFill>
                            <a:srgbClr val="E6EDF7"/>
                          </a:solidFill>
                        </a:rPr>
                        <a:t>100%</a:t>
                      </a:r>
                    </a:p>
                  </a:txBody>
                  <a:tcPr>
                    <a:solidFill>
                      <a:srgbClr val="061224"/>
                    </a:solidFill>
                  </a:tcPr>
                </a:tc>
              </a:tr>
              <a:tr h="457200">
                <a:tc>
                  <a:txBody>
                    <a:bodyPr/>
                    <a:lstStyle/>
                    <a:p>
                      <a:r>
                        <a:rPr sz="1400">
                          <a:solidFill>
                            <a:srgbClr val="E6EDF7"/>
                          </a:solidFill>
                        </a:rPr>
                        <a:t>Duplicate works</a:t>
                      </a:r>
                    </a:p>
                  </a:txBody>
                  <a:tcPr>
                    <a:solidFill>
                      <a:srgbClr val="0B1F3A"/>
                    </a:solidFill>
                  </a:tcPr>
                </a:tc>
                <a:tc>
                  <a:txBody>
                    <a:bodyPr/>
                    <a:lstStyle/>
                    <a:p>
                      <a:r>
                        <a:rPr sz="1400">
                          <a:solidFill>
                            <a:srgbClr val="E6EDF7"/>
                          </a:solidFill>
                        </a:rPr>
                        <a:t>73%</a:t>
                      </a:r>
                    </a:p>
                  </a:txBody>
                  <a:tcPr>
                    <a:solidFill>
                      <a:srgbClr val="0B1F3A"/>
                    </a:solidFill>
                  </a:tcPr>
                </a:tc>
                <a:tc>
                  <a:txBody>
                    <a:bodyPr/>
                    <a:lstStyle/>
                    <a:p>
                      <a:r>
                        <a:rPr sz="1400">
                          <a:solidFill>
                            <a:srgbClr val="E6EDF7"/>
                          </a:solidFill>
                        </a:rPr>
                        <a:t>45%</a:t>
                      </a:r>
                    </a:p>
                  </a:txBody>
                  <a:tcPr>
                    <a:solidFill>
                      <a:srgbClr val="0B1F3A"/>
                    </a:solidFill>
                  </a:tcPr>
                </a:tc>
                <a:tc>
                  <a:txBody>
                    <a:bodyPr/>
                    <a:lstStyle/>
                    <a:p>
                      <a:r>
                        <a:rPr sz="1400">
                          <a:solidFill>
                            <a:srgbClr val="E6EDF7"/>
                          </a:solidFill>
                        </a:rPr>
                        <a:t>55%</a:t>
                      </a:r>
                    </a:p>
                  </a:txBody>
                  <a:tcPr>
                    <a:solidFill>
                      <a:srgbClr val="0B1F3A"/>
                    </a:solidFill>
                  </a:tcPr>
                </a:tc>
              </a:tr>
              <a:tr h="457200">
                <a:tc>
                  <a:txBody>
                    <a:bodyPr/>
                    <a:lstStyle/>
                    <a:p>
                      <a:r>
                        <a:rPr sz="1400">
                          <a:solidFill>
                            <a:srgbClr val="E6EDF7"/>
                          </a:solidFill>
                        </a:rPr>
                        <a:t>Split work</a:t>
                      </a:r>
                    </a:p>
                  </a:txBody>
                  <a:tcPr>
                    <a:solidFill>
                      <a:srgbClr val="061224"/>
                    </a:solidFill>
                  </a:tcPr>
                </a:tc>
                <a:tc>
                  <a:txBody>
                    <a:bodyPr/>
                    <a:lstStyle/>
                    <a:p>
                      <a:r>
                        <a:rPr sz="1400">
                          <a:solidFill>
                            <a:srgbClr val="EF4444"/>
                          </a:solidFill>
                        </a:rPr>
                        <a:t>46%</a:t>
                      </a:r>
                    </a:p>
                  </a:txBody>
                  <a:tcPr>
                    <a:solidFill>
                      <a:srgbClr val="061224"/>
                    </a:solidFill>
                  </a:tcPr>
                </a:tc>
                <a:tc>
                  <a:txBody>
                    <a:bodyPr/>
                    <a:lstStyle/>
                    <a:p>
                      <a:r>
                        <a:rPr sz="1400">
                          <a:solidFill>
                            <a:srgbClr val="EF4444"/>
                          </a:solidFill>
                        </a:rPr>
                        <a:t>5%</a:t>
                      </a:r>
                    </a:p>
                  </a:txBody>
                  <a:tcPr>
                    <a:solidFill>
                      <a:srgbClr val="061224"/>
                    </a:solidFill>
                  </a:tcPr>
                </a:tc>
                <a:tc>
                  <a:txBody>
                    <a:bodyPr/>
                    <a:lstStyle/>
                    <a:p>
                      <a:r>
                        <a:rPr sz="1400">
                          <a:solidFill>
                            <a:srgbClr val="EF4444"/>
                          </a:solidFill>
                        </a:rPr>
                        <a:t>46%</a:t>
                      </a:r>
                    </a:p>
                  </a:txBody>
                  <a:tcPr>
                    <a:solidFill>
                      <a:srgbClr val="061224"/>
                    </a:solidFill>
                  </a:tcPr>
                </a:tc>
              </a:tr>
            </a:tbl>
          </a:graphicData>
        </a:graphic>
      </p:graphicFrame>
      <p:sp>
        <p:nvSpPr>
          <p:cNvPr id="6" name="TextBox 5"/>
          <p:cNvSpPr txBox="1"/>
          <p:nvPr/>
        </p:nvSpPr>
        <p:spPr>
          <a:xfrm>
            <a:off x="8001000" y="1600200"/>
            <a:ext cx="3474720" cy="4572000"/>
          </a:xfrm>
          <a:prstGeom prst="rect">
            <a:avLst/>
          </a:prstGeom>
          <a:noFill/>
        </p:spPr>
        <p:txBody>
          <a:bodyPr wrap="square">
            <a:spAutoFit/>
          </a:bodyPr>
          <a:lstStyle/>
          <a:p>
            <a:pPr>
              <a:spcAft>
                <a:spcPts val="800"/>
              </a:spcAft>
            </a:pPr>
            <a:r>
              <a:rPr sz="1300">
                <a:solidFill>
                  <a:srgbClr val="F0934B"/>
                </a:solidFill>
                <a:latin typeface="Segoe UI"/>
              </a:rPr>
              <a:t>▸  </a:t>
            </a:r>
            <a:r>
              <a:rPr sz="1300">
                <a:solidFill>
                  <a:srgbClr val="E6EDF7"/>
                </a:solidFill>
                <a:latin typeface="Segoe UI"/>
              </a:rPr>
              <a:t>Proxy-label model PR-AUC 0.94: it learns the dataset's hand-written rule label, not verified fraud, so this measures learnability of rules.</a:t>
            </a:r>
          </a:p>
          <a:p>
            <a:pPr>
              <a:spcAft>
                <a:spcPts val="800"/>
              </a:spcAft>
            </a:pPr>
            <a:r>
              <a:rPr sz="1300">
                <a:solidFill>
                  <a:srgbClr val="F0934B"/>
                </a:solidFill>
                <a:latin typeface="Segoe UI"/>
              </a:rPr>
              <a:t>▸  </a:t>
            </a:r>
            <a:r>
              <a:rPr sz="1300">
                <a:solidFill>
                  <a:srgbClr val="E6EDF7"/>
                </a:solidFill>
                <a:latin typeface="Segoe UI"/>
              </a:rPr>
              <a:t>Expected-cost model: typical error 1.4x, R² 0.77, out of fold.</a:t>
            </a:r>
          </a:p>
          <a:p>
            <a:pPr>
              <a:spcAft>
                <a:spcPts val="800"/>
              </a:spcAft>
            </a:pPr>
            <a:r>
              <a:rPr sz="1300">
                <a:solidFill>
                  <a:srgbClr val="F0934B"/>
                </a:solidFill>
                <a:latin typeface="Segoe UI"/>
              </a:rPr>
              <a:t>▸  </a:t>
            </a:r>
            <a:r>
              <a:rPr sz="1300">
                <a:solidFill>
                  <a:srgbClr val="E6EDF7"/>
                </a:solidFill>
                <a:latin typeface="Segoe UI"/>
              </a:rPr>
              <a:t>Global top-5% recall targets from step 2b were not met for any detector; per-queue recall is the fair measure and is reported as it is.</a:t>
            </a:r>
          </a:p>
        </p:txBody>
      </p:sp>
      <p:sp>
        <p:nvSpPr>
          <p:cNvPr id="7" name="TextBox 6"/>
          <p:cNvSpPr txBox="1"/>
          <p:nvPr/>
        </p:nvSpPr>
        <p:spPr>
          <a:xfrm>
            <a:off x="777240" y="4206240"/>
            <a:ext cx="6949440" cy="1280160"/>
          </a:xfrm>
          <a:prstGeom prst="rect">
            <a:avLst/>
          </a:prstGeom>
          <a:noFill/>
        </p:spPr>
        <p:txBody>
          <a:bodyPr wrap="square" anchor="t" lIns="45720" rIns="45720" tIns="18288" bIns="18288">
            <a:spAutoFit/>
          </a:bodyPr>
          <a:lstStyle/>
          <a:p>
            <a:pPr algn="l"/>
            <a:r>
              <a:rPr sz="1300" b="0">
                <a:solidFill>
                  <a:srgbClr val="94A6BF"/>
                </a:solidFill>
                <a:latin typeface="Segoe UI"/>
              </a:rPr>
              <a:t>Injection recall shows detector sensitivity to anomalies of the patterns we planted. Planted cases are cleaner than real ones, so these are an upper bound on how obvious such cases are, not a fraud detection rate.</a:t>
            </a:r>
          </a:p>
        </p:txBody>
      </p:sp>
      <p:sp>
        <p:nvSpPr>
          <p:cNvPr id="8" name="TextBox 7"/>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9" name="TextBox 8"/>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ACCOUNTABILITY AND PRIVACY</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Built for a public repository and a public audience</a:t>
            </a:r>
          </a:p>
        </p:txBody>
      </p:sp>
      <p:sp>
        <p:nvSpPr>
          <p:cNvPr id="5" name="Rounded Rectangle 4"/>
          <p:cNvSpPr/>
          <p:nvPr/>
        </p:nvSpPr>
        <p:spPr>
          <a:xfrm>
            <a:off x="777240" y="1600200"/>
            <a:ext cx="5212080" cy="205740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64792"/>
            <a:ext cx="4754880" cy="411480"/>
          </a:xfrm>
          <a:prstGeom prst="rect">
            <a:avLst/>
          </a:prstGeom>
          <a:noFill/>
        </p:spPr>
        <p:txBody>
          <a:bodyPr wrap="square" anchor="t" lIns="45720" rIns="45720" tIns="18288" bIns="18288">
            <a:spAutoFit/>
          </a:bodyPr>
          <a:lstStyle/>
          <a:p>
            <a:pPr algn="l"/>
            <a:r>
              <a:rPr sz="1800" b="1">
                <a:solidFill>
                  <a:srgbClr val="F0934B"/>
                </a:solidFill>
                <a:latin typeface="Segoe UI Semibold"/>
              </a:rPr>
              <a:t>Presentation mode</a:t>
            </a:r>
          </a:p>
        </p:txBody>
      </p:sp>
      <p:sp>
        <p:nvSpPr>
          <p:cNvPr id="7" name="TextBox 6"/>
          <p:cNvSpPr txBox="1"/>
          <p:nvPr/>
        </p:nvSpPr>
        <p:spPr>
          <a:xfrm>
            <a:off x="1005840" y="2240280"/>
            <a:ext cx="4754880" cy="1371600"/>
          </a:xfrm>
          <a:prstGeom prst="rect">
            <a:avLst/>
          </a:prstGeom>
          <a:noFill/>
        </p:spPr>
        <p:txBody>
          <a:bodyPr wrap="square" anchor="t" lIns="45720" rIns="45720" tIns="18288" bIns="18288">
            <a:spAutoFit/>
          </a:bodyPr>
          <a:lstStyle/>
          <a:p>
            <a:pPr algn="l"/>
            <a:r>
              <a:rPr sz="1400" b="0">
                <a:solidFill>
                  <a:srgbClr val="E6EDF7"/>
                </a:solidFill>
                <a:latin typeface="Segoe UI"/>
              </a:rPr>
              <a:t>MP and vendor names become stable pseudonyms; beneficiary names and phone numbers in descriptions are masked. Every screenshot here was taken in it.</a:t>
            </a:r>
          </a:p>
        </p:txBody>
      </p:sp>
      <p:sp>
        <p:nvSpPr>
          <p:cNvPr id="8" name="Rounded Rectangle 7"/>
          <p:cNvSpPr/>
          <p:nvPr/>
        </p:nvSpPr>
        <p:spPr>
          <a:xfrm>
            <a:off x="6263640" y="1600200"/>
            <a:ext cx="5212080" cy="205740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64792"/>
            <a:ext cx="4754880" cy="411480"/>
          </a:xfrm>
          <a:prstGeom prst="rect">
            <a:avLst/>
          </a:prstGeom>
          <a:noFill/>
        </p:spPr>
        <p:txBody>
          <a:bodyPr wrap="square" anchor="t" lIns="45720" rIns="45720" tIns="18288" bIns="18288">
            <a:spAutoFit/>
          </a:bodyPr>
          <a:lstStyle/>
          <a:p>
            <a:pPr algn="l"/>
            <a:r>
              <a:rPr sz="1800" b="1">
                <a:solidFill>
                  <a:srgbClr val="F0934B"/>
                </a:solidFill>
                <a:latin typeface="Segoe UI Semibold"/>
              </a:rPr>
              <a:t>Audit trail</a:t>
            </a:r>
          </a:p>
        </p:txBody>
      </p:sp>
      <p:sp>
        <p:nvSpPr>
          <p:cNvPr id="10" name="TextBox 9"/>
          <p:cNvSpPr txBox="1"/>
          <p:nvPr/>
        </p:nvSpPr>
        <p:spPr>
          <a:xfrm>
            <a:off x="6492240" y="2240280"/>
            <a:ext cx="4754880" cy="1371600"/>
          </a:xfrm>
          <a:prstGeom prst="rect">
            <a:avLst/>
          </a:prstGeom>
          <a:noFill/>
        </p:spPr>
        <p:txBody>
          <a:bodyPr wrap="square" anchor="t" lIns="45720" rIns="45720" tIns="18288" bIns="18288">
            <a:spAutoFit/>
          </a:bodyPr>
          <a:lstStyle/>
          <a:p>
            <a:pPr algn="l"/>
            <a:r>
              <a:rPr sz="1400" b="0">
                <a:solidFill>
                  <a:srgbClr val="E6EDF7"/>
                </a:solidFill>
                <a:latin typeface="Segoe UI"/>
              </a:rPr>
              <a:t>Every status change, verdict, note, export and brief is appended to a SHA-256 hash chain; editing, deleting or re-hashing any event is detected.</a:t>
            </a:r>
          </a:p>
        </p:txBody>
      </p:sp>
      <p:sp>
        <p:nvSpPr>
          <p:cNvPr id="11" name="Rounded Rectangle 10"/>
          <p:cNvSpPr/>
          <p:nvPr/>
        </p:nvSpPr>
        <p:spPr>
          <a:xfrm>
            <a:off x="777240" y="3886200"/>
            <a:ext cx="5212080" cy="205740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50791"/>
            <a:ext cx="4754880" cy="411480"/>
          </a:xfrm>
          <a:prstGeom prst="rect">
            <a:avLst/>
          </a:prstGeom>
          <a:noFill/>
        </p:spPr>
        <p:txBody>
          <a:bodyPr wrap="square" anchor="t" lIns="45720" rIns="45720" tIns="18288" bIns="18288">
            <a:spAutoFit/>
          </a:bodyPr>
          <a:lstStyle/>
          <a:p>
            <a:pPr algn="l"/>
            <a:r>
              <a:rPr sz="1800" b="1">
                <a:solidFill>
                  <a:srgbClr val="F0934B"/>
                </a:solidFill>
                <a:latin typeface="Segoe UI Semibold"/>
              </a:rPr>
              <a:t>Citizen view</a:t>
            </a:r>
          </a:p>
        </p:txBody>
      </p:sp>
      <p:sp>
        <p:nvSpPr>
          <p:cNvPr id="13" name="TextBox 12"/>
          <p:cNvSpPr txBox="1"/>
          <p:nvPr/>
        </p:nvSpPr>
        <p:spPr>
          <a:xfrm>
            <a:off x="1005840" y="4526280"/>
            <a:ext cx="4754880" cy="1371600"/>
          </a:xfrm>
          <a:prstGeom prst="rect">
            <a:avLst/>
          </a:prstGeom>
          <a:noFill/>
        </p:spPr>
        <p:txBody>
          <a:bodyPr wrap="square" anchor="t" lIns="45720" rIns="45720" tIns="18288" bIns="18288">
            <a:spAutoFit/>
          </a:bodyPr>
          <a:lstStyle/>
          <a:p>
            <a:pPr algn="l"/>
            <a:r>
              <a:rPr sz="1400" b="0">
                <a:solidFill>
                  <a:srgbClr val="E6EDF7"/>
                </a:solidFill>
                <a:latin typeface="Segoe UI"/>
              </a:rPr>
              <a:t>Public and read-only: what was sanctioned, spent and completed by district. No scores, no flags, no work ids.</a:t>
            </a:r>
          </a:p>
        </p:txBody>
      </p:sp>
      <p:sp>
        <p:nvSpPr>
          <p:cNvPr id="14" name="Rounded Rectangle 13"/>
          <p:cNvSpPr/>
          <p:nvPr/>
        </p:nvSpPr>
        <p:spPr>
          <a:xfrm>
            <a:off x="6263640" y="3886200"/>
            <a:ext cx="5212080" cy="2057400"/>
          </a:xfrm>
          <a:prstGeom prst="roundRect">
            <a:avLst>
              <a:gd name="adj" fmla="val 6000"/>
            </a:avLst>
          </a:prstGeom>
          <a:solidFill>
            <a:srgbClr val="122A4C"/>
          </a:solidFill>
          <a:ln w="9525">
            <a:solidFill>
              <a:srgbClr val="24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050791"/>
            <a:ext cx="4754880" cy="411480"/>
          </a:xfrm>
          <a:prstGeom prst="rect">
            <a:avLst/>
          </a:prstGeom>
          <a:noFill/>
        </p:spPr>
        <p:txBody>
          <a:bodyPr wrap="square" anchor="t" lIns="45720" rIns="45720" tIns="18288" bIns="18288">
            <a:spAutoFit/>
          </a:bodyPr>
          <a:lstStyle/>
          <a:p>
            <a:pPr algn="l"/>
            <a:r>
              <a:rPr sz="1800" b="1">
                <a:solidFill>
                  <a:srgbClr val="F0934B"/>
                </a:solidFill>
                <a:latin typeface="Segoe UI Semibold"/>
              </a:rPr>
              <a:t>Framing</a:t>
            </a:r>
          </a:p>
        </p:txBody>
      </p:sp>
      <p:sp>
        <p:nvSpPr>
          <p:cNvPr id="16" name="TextBox 15"/>
          <p:cNvSpPr txBox="1"/>
          <p:nvPr/>
        </p:nvSpPr>
        <p:spPr>
          <a:xfrm>
            <a:off x="6492240" y="4526280"/>
            <a:ext cx="4754880" cy="1371600"/>
          </a:xfrm>
          <a:prstGeom prst="rect">
            <a:avLst/>
          </a:prstGeom>
          <a:noFill/>
        </p:spPr>
        <p:txBody>
          <a:bodyPr wrap="square" anchor="t" lIns="45720" rIns="45720" tIns="18288" bIns="18288">
            <a:spAutoFit/>
          </a:bodyPr>
          <a:lstStyle/>
          <a:p>
            <a:pPr algn="l"/>
            <a:r>
              <a:rPr sz="1400" b="0">
                <a:solidFill>
                  <a:srgbClr val="E6EDF7"/>
                </a:solidFill>
                <a:latin typeface="Segoe UI"/>
              </a:rPr>
              <a:t>Alerts are hypotheses for review. MP views describe implementation by executing agencies. No rankings of people.</a:t>
            </a:r>
          </a:p>
        </p:txBody>
      </p:sp>
      <p:sp>
        <p:nvSpPr>
          <p:cNvPr id="17" name="TextBox 16"/>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8" name="TextBox 17"/>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548640" y="502920"/>
            <a:ext cx="73152"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515600" cy="320040"/>
          </a:xfrm>
          <a:prstGeom prst="rect">
            <a:avLst/>
          </a:prstGeom>
          <a:noFill/>
        </p:spPr>
        <p:txBody>
          <a:bodyPr wrap="square" anchor="t" lIns="45720" rIns="45720" tIns="18288" bIns="18288">
            <a:spAutoFit/>
          </a:bodyPr>
          <a:lstStyle/>
          <a:p>
            <a:pPr algn="l"/>
            <a:r>
              <a:rPr sz="1200" b="1">
                <a:solidFill>
                  <a:srgbClr val="F0934B"/>
                </a:solidFill>
                <a:latin typeface="Segoe UI"/>
              </a:rPr>
              <a:t>LIMITS AND NEXT STEPS</a:t>
            </a:r>
          </a:p>
        </p:txBody>
      </p:sp>
      <p:sp>
        <p:nvSpPr>
          <p:cNvPr id="4" name="TextBox 3"/>
          <p:cNvSpPr txBox="1"/>
          <p:nvPr/>
        </p:nvSpPr>
        <p:spPr>
          <a:xfrm>
            <a:off x="777240" y="658368"/>
            <a:ext cx="10789920" cy="731520"/>
          </a:xfrm>
          <a:prstGeom prst="rect">
            <a:avLst/>
          </a:prstGeom>
          <a:noFill/>
        </p:spPr>
        <p:txBody>
          <a:bodyPr wrap="square" anchor="t" lIns="45720" rIns="45720" tIns="18288" bIns="18288">
            <a:spAutoFit/>
          </a:bodyPr>
          <a:lstStyle/>
          <a:p>
            <a:pPr algn="l"/>
            <a:r>
              <a:rPr sz="3000" b="1">
                <a:solidFill>
                  <a:srgbClr val="E6EDF7"/>
                </a:solidFill>
                <a:latin typeface="Segoe UI Semibold"/>
              </a:rPr>
              <a:t>What we would do with the ministry's data</a:t>
            </a:r>
          </a:p>
        </p:txBody>
      </p:sp>
      <p:sp>
        <p:nvSpPr>
          <p:cNvPr id="5" name="TextBox 4"/>
          <p:cNvSpPr txBox="1"/>
          <p:nvPr/>
        </p:nvSpPr>
        <p:spPr>
          <a:xfrm>
            <a:off x="777240" y="1600200"/>
            <a:ext cx="5303520" cy="4572000"/>
          </a:xfrm>
          <a:prstGeom prst="rect">
            <a:avLst/>
          </a:prstGeom>
          <a:noFill/>
        </p:spPr>
        <p:txBody>
          <a:bodyPr wrap="square">
            <a:spAutoFit/>
          </a:bodyPr>
          <a:lstStyle/>
          <a:p>
            <a:pPr>
              <a:spcAft>
                <a:spcPts val="800"/>
              </a:spcAft>
            </a:pPr>
            <a:r>
              <a:rPr sz="1500">
                <a:solidFill>
                  <a:srgbClr val="F0934B"/>
                </a:solidFill>
                <a:latin typeface="Segoe UI"/>
              </a:rPr>
              <a:t>▸  </a:t>
            </a:r>
            <a:r>
              <a:rPr sz="1500">
                <a:solidFill>
                  <a:srgbClr val="E6EDF7"/>
                </a:solidFill>
                <a:latin typeface="Segoe UI"/>
              </a:rPr>
              <a:t>Split-work detection flags 46% of planted groups: needs vendor identifiers and sanction-authority limits.</a:t>
            </a:r>
          </a:p>
          <a:p>
            <a:pPr>
              <a:spcAft>
                <a:spcPts val="800"/>
              </a:spcAft>
            </a:pPr>
            <a:r>
              <a:rPr sz="1500">
                <a:solidFill>
                  <a:srgbClr val="F0934B"/>
                </a:solidFill>
                <a:latin typeface="Segoe UI"/>
              </a:rPr>
              <a:t>▸  </a:t>
            </a:r>
            <a:r>
              <a:rPr sz="1500">
                <a:solidFill>
                  <a:srgbClr val="E6EDF7"/>
                </a:solidFill>
                <a:latin typeface="Segoe UI"/>
              </a:rPr>
              <a:t>Vendors are identified by name only (no PAN or GSTIN), so network links are name similarity.</a:t>
            </a:r>
          </a:p>
          <a:p>
            <a:pPr>
              <a:spcAft>
                <a:spcPts val="800"/>
              </a:spcAft>
            </a:pPr>
            <a:r>
              <a:rPr sz="1500">
                <a:solidFill>
                  <a:srgbClr val="F0934B"/>
                </a:solidFill>
                <a:latin typeface="Segoe UI"/>
              </a:rPr>
              <a:t>▸  </a:t>
            </a:r>
            <a:r>
              <a:rPr sz="1500">
                <a:solidFill>
                  <a:srgbClr val="E6EDF7"/>
                </a:solidFill>
                <a:latin typeface="Segoe UI"/>
              </a:rPr>
              <a:t>The extract has no release ledger or entitlement: fund flow and lapse are labelled estimates.</a:t>
            </a:r>
          </a:p>
          <a:p>
            <a:pPr>
              <a:spcAft>
                <a:spcPts val="800"/>
              </a:spcAft>
            </a:pPr>
            <a:r>
              <a:rPr sz="1500">
                <a:solidFill>
                  <a:srgbClr val="F0934B"/>
                </a:solidFill>
                <a:latin typeface="Segoe UI"/>
              </a:rPr>
              <a:t>▸  </a:t>
            </a:r>
            <a:r>
              <a:rPr sz="1500">
                <a:solidFill>
                  <a:srgbClr val="E6EDF7"/>
                </a:solidFill>
                <a:latin typeface="Segoe UI"/>
              </a:rPr>
              <a:t>No verified fraud labels: every model learns patterns or proxies, never ground truth.</a:t>
            </a:r>
          </a:p>
        </p:txBody>
      </p:sp>
      <p:sp>
        <p:nvSpPr>
          <p:cNvPr id="6" name="TextBox 5"/>
          <p:cNvSpPr txBox="1"/>
          <p:nvPr/>
        </p:nvSpPr>
        <p:spPr>
          <a:xfrm>
            <a:off x="6355080" y="1600200"/>
            <a:ext cx="5120640" cy="4572000"/>
          </a:xfrm>
          <a:prstGeom prst="rect">
            <a:avLst/>
          </a:prstGeom>
          <a:noFill/>
        </p:spPr>
        <p:txBody>
          <a:bodyPr wrap="square">
            <a:spAutoFit/>
          </a:bodyPr>
          <a:lstStyle/>
          <a:p>
            <a:pPr>
              <a:spcAft>
                <a:spcPts val="800"/>
              </a:spcAft>
            </a:pPr>
            <a:r>
              <a:rPr sz="1500">
                <a:solidFill>
                  <a:srgbClr val="F0934B"/>
                </a:solidFill>
                <a:latin typeface="Segoe UI"/>
              </a:rPr>
              <a:t>▸  </a:t>
            </a:r>
            <a:r>
              <a:rPr sz="1500">
                <a:solidFill>
                  <a:srgbClr val="E6EDF7"/>
                </a:solidFill>
                <a:latin typeface="Segoe UI"/>
              </a:rPr>
              <a:t>Link PFMS payments and sanction orders to close the ledger gaps.</a:t>
            </a:r>
          </a:p>
          <a:p>
            <a:pPr>
              <a:spcAft>
                <a:spcPts val="800"/>
              </a:spcAft>
            </a:pPr>
            <a:r>
              <a:rPr sz="1500">
                <a:solidFill>
                  <a:srgbClr val="F0934B"/>
                </a:solidFill>
                <a:latin typeface="Segoe UI"/>
              </a:rPr>
              <a:t>▸  </a:t>
            </a:r>
            <a:r>
              <a:rPr sz="1500">
                <a:solidFill>
                  <a:srgbClr val="E6EDF7"/>
                </a:solidFill>
                <a:latin typeface="Segoe UI"/>
              </a:rPr>
              <a:t>Collect reviewer verdicts in pilot districts; retrain the re-ranker on them.</a:t>
            </a:r>
          </a:p>
          <a:p>
            <a:pPr>
              <a:spcAft>
                <a:spcPts val="800"/>
              </a:spcAft>
            </a:pPr>
            <a:r>
              <a:rPr sz="1500">
                <a:solidFill>
                  <a:srgbClr val="F0934B"/>
                </a:solidFill>
                <a:latin typeface="Segoe UI"/>
              </a:rPr>
              <a:t>▸  </a:t>
            </a:r>
            <a:r>
              <a:rPr sz="1500">
                <a:solidFill>
                  <a:srgbClr val="E6EDF7"/>
                </a:solidFill>
                <a:latin typeface="Segoe UI"/>
              </a:rPr>
              <a:t>Add geotagged photos for completion checks on fast-completed works.</a:t>
            </a:r>
          </a:p>
          <a:p>
            <a:pPr>
              <a:spcAft>
                <a:spcPts val="800"/>
              </a:spcAft>
            </a:pPr>
            <a:r>
              <a:rPr sz="1500">
                <a:solidFill>
                  <a:srgbClr val="F0934B"/>
                </a:solidFill>
                <a:latin typeface="Segoe UI"/>
              </a:rPr>
              <a:t>▸  </a:t>
            </a:r>
            <a:r>
              <a:rPr sz="1500">
                <a:solidFill>
                  <a:srgbClr val="E6EDF7"/>
                </a:solidFill>
                <a:latin typeface="Segoe UI"/>
              </a:rPr>
              <a:t>Deploy behind government SSO with the same role scopes.</a:t>
            </a:r>
          </a:p>
        </p:txBody>
      </p:sp>
      <p:sp>
        <p:nvSpPr>
          <p:cNvPr id="7" name="TextBox 6"/>
          <p:cNvSpPr txBox="1"/>
          <p:nvPr/>
        </p:nvSpPr>
        <p:spPr>
          <a:xfrm>
            <a:off x="777240" y="1234440"/>
            <a:ext cx="5303520" cy="320040"/>
          </a:xfrm>
          <a:prstGeom prst="rect">
            <a:avLst/>
          </a:prstGeom>
          <a:noFill/>
        </p:spPr>
        <p:txBody>
          <a:bodyPr wrap="square" anchor="t" lIns="45720" rIns="45720" tIns="18288" bIns="18288">
            <a:spAutoFit/>
          </a:bodyPr>
          <a:lstStyle/>
          <a:p>
            <a:pPr algn="l"/>
            <a:r>
              <a:rPr sz="1200" b="1">
                <a:solidFill>
                  <a:srgbClr val="EAB308"/>
                </a:solidFill>
                <a:latin typeface="Segoe UI"/>
              </a:rPr>
              <a:t>LIMITS</a:t>
            </a:r>
          </a:p>
        </p:txBody>
      </p:sp>
      <p:sp>
        <p:nvSpPr>
          <p:cNvPr id="8" name="TextBox 7"/>
          <p:cNvSpPr txBox="1"/>
          <p:nvPr/>
        </p:nvSpPr>
        <p:spPr>
          <a:xfrm>
            <a:off x="6355080" y="1234440"/>
            <a:ext cx="5120640" cy="320040"/>
          </a:xfrm>
          <a:prstGeom prst="rect">
            <a:avLst/>
          </a:prstGeom>
          <a:noFill/>
        </p:spPr>
        <p:txBody>
          <a:bodyPr wrap="square" anchor="t" lIns="45720" rIns="45720" tIns="18288" bIns="18288">
            <a:spAutoFit/>
          </a:bodyPr>
          <a:lstStyle/>
          <a:p>
            <a:pPr algn="l"/>
            <a:r>
              <a:rPr sz="1200" b="1">
                <a:solidFill>
                  <a:srgbClr val="34C778"/>
                </a:solidFill>
                <a:latin typeface="Segoe UI"/>
              </a:rPr>
              <a:t>NEXT</a:t>
            </a:r>
          </a:p>
        </p:txBody>
      </p:sp>
      <p:sp>
        <p:nvSpPr>
          <p:cNvPr id="9" name="TextBox 8"/>
          <p:cNvSpPr txBox="1"/>
          <p:nvPr/>
        </p:nvSpPr>
        <p:spPr>
          <a:xfrm>
            <a:off x="548640" y="6419088"/>
            <a:ext cx="7315200" cy="274320"/>
          </a:xfrm>
          <a:prstGeom prst="rect">
            <a:avLst/>
          </a:prstGeom>
          <a:noFill/>
        </p:spPr>
        <p:txBody>
          <a:bodyPr wrap="square" anchor="t" lIns="45720" rIns="45720" tIns="18288" bIns="18288">
            <a:spAutoFit/>
          </a:bodyPr>
          <a:lstStyle/>
          <a:p>
            <a:pPr algn="l"/>
            <a:r>
              <a:rPr sz="1000" b="0">
                <a:solidFill>
                  <a:srgbClr val="94A6BF"/>
                </a:solidFill>
                <a:latin typeface="Segoe UI"/>
              </a:rPr>
              <a:t>MPLADS Sentinel  ·  SIH 2026  ·  PS 26102  ·  Risk indicators for review, never findings of fraud</a:t>
            </a:r>
          </a:p>
        </p:txBody>
      </p:sp>
      <p:sp>
        <p:nvSpPr>
          <p:cNvPr id="10" name="TextBox 9"/>
          <p:cNvSpPr txBox="1"/>
          <p:nvPr/>
        </p:nvSpPr>
        <p:spPr>
          <a:xfrm>
            <a:off x="11155680" y="6419088"/>
            <a:ext cx="548640" cy="274320"/>
          </a:xfrm>
          <a:prstGeom prst="rect">
            <a:avLst/>
          </a:prstGeom>
          <a:noFill/>
        </p:spPr>
        <p:txBody>
          <a:bodyPr wrap="square" anchor="t" lIns="45720" rIns="45720" tIns="18288" bIns="18288">
            <a:spAutoFit/>
          </a:bodyPr>
          <a:lstStyle/>
          <a:p>
            <a:pPr algn="r"/>
            <a:r>
              <a:rPr sz="1000" b="0">
                <a:solidFill>
                  <a:srgbClr val="94A6BF"/>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224"/>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914400"/>
          </a:xfrm>
          <a:prstGeom prst="rect">
            <a:avLst/>
          </a:prstGeom>
          <a:noFill/>
        </p:spPr>
        <p:txBody>
          <a:bodyPr wrap="square" anchor="t" lIns="45720" rIns="45720" tIns="18288" bIns="18288">
            <a:spAutoFit/>
          </a:bodyPr>
          <a:lstStyle/>
          <a:p>
            <a:pPr algn="l"/>
            <a:r>
              <a:rPr sz="5400" b="1">
                <a:solidFill>
                  <a:srgbClr val="E6EDF7"/>
                </a:solidFill>
                <a:latin typeface="Segoe UI Semibold"/>
              </a:rPr>
              <a:t>Thank you</a:t>
            </a:r>
          </a:p>
        </p:txBody>
      </p:sp>
      <p:sp>
        <p:nvSpPr>
          <p:cNvPr id="4" name="TextBox 3"/>
          <p:cNvSpPr txBox="1"/>
          <p:nvPr/>
        </p:nvSpPr>
        <p:spPr>
          <a:xfrm>
            <a:off x="1097280" y="3017520"/>
            <a:ext cx="10058400" cy="1097280"/>
          </a:xfrm>
          <a:prstGeom prst="rect">
            <a:avLst/>
          </a:prstGeom>
          <a:noFill/>
        </p:spPr>
        <p:txBody>
          <a:bodyPr wrap="square" anchor="t" lIns="45720" rIns="45720" tIns="18288" bIns="18288">
            <a:spAutoFit/>
          </a:bodyPr>
          <a:lstStyle/>
          <a:p>
            <a:pPr algn="l"/>
            <a:r>
              <a:rPr sz="2000" b="0">
                <a:solidFill>
                  <a:srgbClr val="94A6BF"/>
                </a:solidFill>
                <a:latin typeface="Segoe UI"/>
              </a:rPr>
              <a:t>MPLADS Sentinel: risk indicators for review, with the evidence attached.</a:t>
            </a:r>
          </a:p>
          <a:p>
            <a:pPr algn="l"/>
            <a:r>
              <a:rPr sz="2000" b="0">
                <a:solidFill>
                  <a:srgbClr val="94A6BF"/>
                </a:solidFill>
                <a:latin typeface="Segoe UI"/>
              </a:rPr>
              <a:t>Live demo: demo.ps1  ·  Citizen view: /public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